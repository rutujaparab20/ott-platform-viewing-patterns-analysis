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58" r:id="rId7"/>
    <p:sldId id="259" r:id="rId8"/>
    <p:sldId id="289" r:id="rId9"/>
    <p:sldId id="290" r:id="rId10"/>
    <p:sldId id="281" r:id="rId11"/>
    <p:sldId id="292" r:id="rId12"/>
    <p:sldId id="291" r:id="rId13"/>
    <p:sldId id="293" r:id="rId14"/>
    <p:sldId id="278" r:id="rId15"/>
    <p:sldId id="295" r:id="rId16"/>
    <p:sldId id="312" r:id="rId17"/>
    <p:sldId id="313" r:id="rId18"/>
    <p:sldId id="308" r:id="rId19"/>
    <p:sldId id="310" r:id="rId20"/>
    <p:sldId id="311" r:id="rId21"/>
    <p:sldId id="302" r:id="rId22"/>
    <p:sldId id="288" r:id="rId23"/>
    <p:sldId id="299" r:id="rId24"/>
    <p:sldId id="300" r:id="rId25"/>
    <p:sldId id="303" r:id="rId26"/>
    <p:sldId id="304" r:id="rId27"/>
    <p:sldId id="305" r:id="rId28"/>
    <p:sldId id="306" r:id="rId29"/>
    <p:sldId id="307" r:id="rId30"/>
    <p:sldId id="297" r:id="rId31"/>
    <p:sldId id="26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F0BDDD-07A0-11C8-5BA0-D22B8191C828}" name="Lopamudra Bera" initials="LB" userId="S::Lopamudra.Bera@in.niit.com::4afe22d6-82bb-4c55-80e2-493fedc832a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9B438-B461-49FE-98E7-668120718C38}" v="25" dt="2026-09-08T13:05:34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ia Legal Support" userId="8b4862ae-755f-49cc-bc9b-68b37d26888c" providerId="ADAL" clId="{75832703-55CC-4B87-A891-273871CAAC2D}"/>
    <pc:docChg chg="undo custSel addSld modSld">
      <pc:chgData name="India Legal Support" userId="8b4862ae-755f-49cc-bc9b-68b37d26888c" providerId="ADAL" clId="{75832703-55CC-4B87-A891-273871CAAC2D}" dt="2026-09-08T13:05:49.259" v="499" actId="1076"/>
      <pc:docMkLst>
        <pc:docMk/>
      </pc:docMkLst>
      <pc:sldChg chg="delSp mod">
        <pc:chgData name="India Legal Support" userId="8b4862ae-755f-49cc-bc9b-68b37d26888c" providerId="ADAL" clId="{75832703-55CC-4B87-A891-273871CAAC2D}" dt="2026-09-08T07:54:31.880" v="55" actId="478"/>
        <pc:sldMkLst>
          <pc:docMk/>
          <pc:sldMk cId="1522597777" sldId="265"/>
        </pc:sldMkLst>
        <pc:spChg chg="del">
          <ac:chgData name="India Legal Support" userId="8b4862ae-755f-49cc-bc9b-68b37d26888c" providerId="ADAL" clId="{75832703-55CC-4B87-A891-273871CAAC2D}" dt="2026-09-08T07:54:31.880" v="55" actId="478"/>
          <ac:spMkLst>
            <pc:docMk/>
            <pc:sldMk cId="1522597777" sldId="265"/>
            <ac:spMk id="3" creationId="{1ED57806-8FE3-4CB1-E138-F113197298E9}"/>
          </ac:spMkLst>
        </pc:spChg>
      </pc:sldChg>
      <pc:sldChg chg="delSp mod">
        <pc:chgData name="India Legal Support" userId="8b4862ae-755f-49cc-bc9b-68b37d26888c" providerId="ADAL" clId="{75832703-55CC-4B87-A891-273871CAAC2D}" dt="2026-09-08T07:49:10.807" v="1" actId="478"/>
        <pc:sldMkLst>
          <pc:docMk/>
          <pc:sldMk cId="1844760605" sldId="281"/>
        </pc:sldMkLst>
        <pc:spChg chg="del">
          <ac:chgData name="India Legal Support" userId="8b4862ae-755f-49cc-bc9b-68b37d26888c" providerId="ADAL" clId="{75832703-55CC-4B87-A891-273871CAAC2D}" dt="2026-09-08T07:49:10.807" v="1" actId="478"/>
          <ac:spMkLst>
            <pc:docMk/>
            <pc:sldMk cId="1844760605" sldId="281"/>
            <ac:spMk id="5" creationId="{39764023-4E84-D5A9-002B-CA5B4743F9A4}"/>
          </ac:spMkLst>
        </pc:spChg>
      </pc:sldChg>
      <pc:sldChg chg="delSp mod">
        <pc:chgData name="India Legal Support" userId="8b4862ae-755f-49cc-bc9b-68b37d26888c" providerId="ADAL" clId="{75832703-55CC-4B87-A891-273871CAAC2D}" dt="2026-09-08T07:48:57.730" v="0" actId="478"/>
        <pc:sldMkLst>
          <pc:docMk/>
          <pc:sldMk cId="2197442332" sldId="289"/>
        </pc:sldMkLst>
        <pc:spChg chg="del">
          <ac:chgData name="India Legal Support" userId="8b4862ae-755f-49cc-bc9b-68b37d26888c" providerId="ADAL" clId="{75832703-55CC-4B87-A891-273871CAAC2D}" dt="2026-09-08T07:48:57.730" v="0" actId="478"/>
          <ac:spMkLst>
            <pc:docMk/>
            <pc:sldMk cId="2197442332" sldId="289"/>
            <ac:spMk id="5" creationId="{F2FFDA92-347A-0EDD-4C05-DDB000090B8A}"/>
          </ac:spMkLst>
        </pc:spChg>
      </pc:sldChg>
      <pc:sldChg chg="delSp mod">
        <pc:chgData name="India Legal Support" userId="8b4862ae-755f-49cc-bc9b-68b37d26888c" providerId="ADAL" clId="{75832703-55CC-4B87-A891-273871CAAC2D}" dt="2026-09-08T07:50:01.944" v="2" actId="478"/>
        <pc:sldMkLst>
          <pc:docMk/>
          <pc:sldMk cId="1894224985" sldId="292"/>
        </pc:sldMkLst>
        <pc:spChg chg="del">
          <ac:chgData name="India Legal Support" userId="8b4862ae-755f-49cc-bc9b-68b37d26888c" providerId="ADAL" clId="{75832703-55CC-4B87-A891-273871CAAC2D}" dt="2026-09-08T07:50:01.944" v="2" actId="478"/>
          <ac:spMkLst>
            <pc:docMk/>
            <pc:sldMk cId="1894224985" sldId="292"/>
            <ac:spMk id="5" creationId="{7B4135A1-9BDE-E089-A07F-92DC9847A982}"/>
          </ac:spMkLst>
        </pc:spChg>
      </pc:sldChg>
      <pc:sldChg chg="delSp modSp mod">
        <pc:chgData name="India Legal Support" userId="8b4862ae-755f-49cc-bc9b-68b37d26888c" providerId="ADAL" clId="{75832703-55CC-4B87-A891-273871CAAC2D}" dt="2026-09-08T07:50:39.743" v="9" actId="478"/>
        <pc:sldMkLst>
          <pc:docMk/>
          <pc:sldMk cId="2311089517" sldId="293"/>
        </pc:sldMkLst>
        <pc:spChg chg="mod">
          <ac:chgData name="India Legal Support" userId="8b4862ae-755f-49cc-bc9b-68b37d26888c" providerId="ADAL" clId="{75832703-55CC-4B87-A891-273871CAAC2D}" dt="2026-09-08T07:50:28.973" v="6" actId="1076"/>
          <ac:spMkLst>
            <pc:docMk/>
            <pc:sldMk cId="2311089517" sldId="293"/>
            <ac:spMk id="7" creationId="{2D042BF8-F661-4B15-8B3B-02F874D99EAE}"/>
          </ac:spMkLst>
        </pc:spChg>
        <pc:spChg chg="mod">
          <ac:chgData name="India Legal Support" userId="8b4862ae-755f-49cc-bc9b-68b37d26888c" providerId="ADAL" clId="{75832703-55CC-4B87-A891-273871CAAC2D}" dt="2026-09-08T07:50:20.083" v="5" actId="1076"/>
          <ac:spMkLst>
            <pc:docMk/>
            <pc:sldMk cId="2311089517" sldId="293"/>
            <ac:spMk id="9" creationId="{17BBFE90-F444-2E4F-7626-BC5B8B0F2D83}"/>
          </ac:spMkLst>
        </pc:spChg>
        <pc:spChg chg="del">
          <ac:chgData name="India Legal Support" userId="8b4862ae-755f-49cc-bc9b-68b37d26888c" providerId="ADAL" clId="{75832703-55CC-4B87-A891-273871CAAC2D}" dt="2026-09-08T07:50:36.484" v="8" actId="478"/>
          <ac:spMkLst>
            <pc:docMk/>
            <pc:sldMk cId="2311089517" sldId="293"/>
            <ac:spMk id="175" creationId="{EEE7ECE0-142E-82BF-4E13-DCDB9B71EC0C}"/>
          </ac:spMkLst>
        </pc:spChg>
        <pc:spChg chg="del">
          <ac:chgData name="India Legal Support" userId="8b4862ae-755f-49cc-bc9b-68b37d26888c" providerId="ADAL" clId="{75832703-55CC-4B87-A891-273871CAAC2D}" dt="2026-09-08T07:50:35.154" v="7" actId="478"/>
          <ac:spMkLst>
            <pc:docMk/>
            <pc:sldMk cId="2311089517" sldId="293"/>
            <ac:spMk id="177" creationId="{BBCA4CB9-D819-6A26-93A0-C98A0A02727E}"/>
          </ac:spMkLst>
        </pc:spChg>
        <pc:spChg chg="del">
          <ac:chgData name="India Legal Support" userId="8b4862ae-755f-49cc-bc9b-68b37d26888c" providerId="ADAL" clId="{75832703-55CC-4B87-A891-273871CAAC2D}" dt="2026-09-08T07:50:39.743" v="9" actId="478"/>
          <ac:spMkLst>
            <pc:docMk/>
            <pc:sldMk cId="2311089517" sldId="293"/>
            <ac:spMk id="179" creationId="{AAC3AFCC-CB4E-834B-81CE-0119C20269DF}"/>
          </ac:spMkLst>
        </pc:spChg>
      </pc:sldChg>
      <pc:sldChg chg="addSp delSp modSp mod">
        <pc:chgData name="India Legal Support" userId="8b4862ae-755f-49cc-bc9b-68b37d26888c" providerId="ADAL" clId="{75832703-55CC-4B87-A891-273871CAAC2D}" dt="2026-09-08T12:58:34.761" v="369" actId="20577"/>
        <pc:sldMkLst>
          <pc:docMk/>
          <pc:sldMk cId="2551792124" sldId="295"/>
        </pc:sldMkLst>
        <pc:spChg chg="mod">
          <ac:chgData name="India Legal Support" userId="8b4862ae-755f-49cc-bc9b-68b37d26888c" providerId="ADAL" clId="{75832703-55CC-4B87-A891-273871CAAC2D}" dt="2026-09-08T12:30:00.082" v="125" actId="1076"/>
          <ac:spMkLst>
            <pc:docMk/>
            <pc:sldMk cId="2551792124" sldId="295"/>
            <ac:spMk id="2" creationId="{A19F0EC8-B100-A77B-AFB1-E7AF07A95AF8}"/>
          </ac:spMkLst>
        </pc:spChg>
        <pc:spChg chg="del">
          <ac:chgData name="India Legal Support" userId="8b4862ae-755f-49cc-bc9b-68b37d26888c" providerId="ADAL" clId="{75832703-55CC-4B87-A891-273871CAAC2D}" dt="2026-09-08T07:51:00.587" v="10" actId="478"/>
          <ac:spMkLst>
            <pc:docMk/>
            <pc:sldMk cId="2551792124" sldId="295"/>
            <ac:spMk id="5" creationId="{2B4443A1-C734-B030-2263-AE6B4ABED238}"/>
          </ac:spMkLst>
        </pc:spChg>
        <pc:spChg chg="add del">
          <ac:chgData name="India Legal Support" userId="8b4862ae-755f-49cc-bc9b-68b37d26888c" providerId="ADAL" clId="{75832703-55CC-4B87-A891-273871CAAC2D}" dt="2026-09-08T12:19:25.569" v="61" actId="22"/>
          <ac:spMkLst>
            <pc:docMk/>
            <pc:sldMk cId="2551792124" sldId="295"/>
            <ac:spMk id="5" creationId="{5E20F737-8E1C-C189-3775-1DE8C6E6C00D}"/>
          </ac:spMkLst>
        </pc:spChg>
        <pc:spChg chg="mod">
          <ac:chgData name="India Legal Support" userId="8b4862ae-755f-49cc-bc9b-68b37d26888c" providerId="ADAL" clId="{75832703-55CC-4B87-A891-273871CAAC2D}" dt="2026-09-08T12:44:38.418" v="226" actId="1076"/>
          <ac:spMkLst>
            <pc:docMk/>
            <pc:sldMk cId="2551792124" sldId="295"/>
            <ac:spMk id="7" creationId="{03C5268E-0F2B-5FC4-FC72-D547E1D826CA}"/>
          </ac:spMkLst>
        </pc:spChg>
        <pc:spChg chg="add del mod">
          <ac:chgData name="India Legal Support" userId="8b4862ae-755f-49cc-bc9b-68b37d26888c" providerId="ADAL" clId="{75832703-55CC-4B87-A891-273871CAAC2D}" dt="2026-09-08T12:23:49.955" v="96"/>
          <ac:spMkLst>
            <pc:docMk/>
            <pc:sldMk cId="2551792124" sldId="295"/>
            <ac:spMk id="10" creationId="{B6280E4A-1F68-ECAD-2416-3B7D9DB5B7AF}"/>
          </ac:spMkLst>
        </pc:spChg>
        <pc:spChg chg="add mod">
          <ac:chgData name="India Legal Support" userId="8b4862ae-755f-49cc-bc9b-68b37d26888c" providerId="ADAL" clId="{75832703-55CC-4B87-A891-273871CAAC2D}" dt="2026-09-08T12:30:22.152" v="128" actId="1076"/>
          <ac:spMkLst>
            <pc:docMk/>
            <pc:sldMk cId="2551792124" sldId="295"/>
            <ac:spMk id="11" creationId="{A0DDA841-7D7C-ECE3-11E9-012D2CDF7F90}"/>
          </ac:spMkLst>
        </pc:spChg>
        <pc:spChg chg="add mod">
          <ac:chgData name="India Legal Support" userId="8b4862ae-755f-49cc-bc9b-68b37d26888c" providerId="ADAL" clId="{75832703-55CC-4B87-A891-273871CAAC2D}" dt="2026-09-08T12:26:12.097" v="115" actId="1076"/>
          <ac:spMkLst>
            <pc:docMk/>
            <pc:sldMk cId="2551792124" sldId="295"/>
            <ac:spMk id="12" creationId="{38D231D6-A210-01A7-AC98-F3800755675C}"/>
          </ac:spMkLst>
        </pc:spChg>
        <pc:spChg chg="add mod">
          <ac:chgData name="India Legal Support" userId="8b4862ae-755f-49cc-bc9b-68b37d26888c" providerId="ADAL" clId="{75832703-55CC-4B87-A891-273871CAAC2D}" dt="2026-09-08T12:34:35.453" v="151" actId="1076"/>
          <ac:spMkLst>
            <pc:docMk/>
            <pc:sldMk cId="2551792124" sldId="295"/>
            <ac:spMk id="16" creationId="{97A3E8B7-8D87-5231-0C3F-EA7E049E348D}"/>
          </ac:spMkLst>
        </pc:spChg>
        <pc:spChg chg="add mod">
          <ac:chgData name="India Legal Support" userId="8b4862ae-755f-49cc-bc9b-68b37d26888c" providerId="ADAL" clId="{75832703-55CC-4B87-A891-273871CAAC2D}" dt="2026-09-08T12:33:28.886" v="142" actId="1076"/>
          <ac:spMkLst>
            <pc:docMk/>
            <pc:sldMk cId="2551792124" sldId="295"/>
            <ac:spMk id="17" creationId="{6BF40ED1-2A63-8DB5-3765-823A4BA8C502}"/>
          </ac:spMkLst>
        </pc:spChg>
        <pc:spChg chg="add mod">
          <ac:chgData name="India Legal Support" userId="8b4862ae-755f-49cc-bc9b-68b37d26888c" providerId="ADAL" clId="{75832703-55CC-4B87-A891-273871CAAC2D}" dt="2026-09-08T12:34:21.125" v="150" actId="1076"/>
          <ac:spMkLst>
            <pc:docMk/>
            <pc:sldMk cId="2551792124" sldId="295"/>
            <ac:spMk id="18" creationId="{D5EEC3DC-F188-6A96-CC32-ACB581EC6FE8}"/>
          </ac:spMkLst>
        </pc:spChg>
        <pc:spChg chg="add mod">
          <ac:chgData name="India Legal Support" userId="8b4862ae-755f-49cc-bc9b-68b37d26888c" providerId="ADAL" clId="{75832703-55CC-4B87-A891-273871CAAC2D}" dt="2026-09-08T12:56:59.825" v="341" actId="1076"/>
          <ac:spMkLst>
            <pc:docMk/>
            <pc:sldMk cId="2551792124" sldId="295"/>
            <ac:spMk id="19" creationId="{49E6B128-4DED-189A-1288-4EE9CCFF9DDF}"/>
          </ac:spMkLst>
        </pc:spChg>
        <pc:spChg chg="add del mod ord">
          <ac:chgData name="India Legal Support" userId="8b4862ae-755f-49cc-bc9b-68b37d26888c" providerId="ADAL" clId="{75832703-55CC-4B87-A891-273871CAAC2D}" dt="2026-09-08T12:56:30.718" v="339" actId="478"/>
          <ac:spMkLst>
            <pc:docMk/>
            <pc:sldMk cId="2551792124" sldId="295"/>
            <ac:spMk id="20" creationId="{B4C25CEC-80A2-429B-4499-0062DD08EDB6}"/>
          </ac:spMkLst>
        </pc:spChg>
        <pc:spChg chg="add mod">
          <ac:chgData name="India Legal Support" userId="8b4862ae-755f-49cc-bc9b-68b37d26888c" providerId="ADAL" clId="{75832703-55CC-4B87-A891-273871CAAC2D}" dt="2026-09-08T12:57:22.161" v="343" actId="207"/>
          <ac:spMkLst>
            <pc:docMk/>
            <pc:sldMk cId="2551792124" sldId="295"/>
            <ac:spMk id="21" creationId="{29B0A425-CDF1-D272-0261-161B66A55923}"/>
          </ac:spMkLst>
        </pc:spChg>
        <pc:spChg chg="add mod">
          <ac:chgData name="India Legal Support" userId="8b4862ae-755f-49cc-bc9b-68b37d26888c" providerId="ADAL" clId="{75832703-55CC-4B87-A891-273871CAAC2D}" dt="2026-09-08T12:58:34.761" v="369" actId="20577"/>
          <ac:spMkLst>
            <pc:docMk/>
            <pc:sldMk cId="2551792124" sldId="295"/>
            <ac:spMk id="22" creationId="{05DB4B17-06A8-A03E-D8AC-9E8AF5A2939C}"/>
          </ac:spMkLst>
        </pc:spChg>
        <pc:picChg chg="add del mod modCrop">
          <ac:chgData name="India Legal Support" userId="8b4862ae-755f-49cc-bc9b-68b37d26888c" providerId="ADAL" clId="{75832703-55CC-4B87-A891-273871CAAC2D}" dt="2026-09-08T12:30:05.756" v="126" actId="1076"/>
          <ac:picMkLst>
            <pc:docMk/>
            <pc:sldMk cId="2551792124" sldId="295"/>
            <ac:picMk id="8" creationId="{478AFB2D-215B-F9FF-8F16-1BFDE35B3BF1}"/>
          </ac:picMkLst>
        </pc:picChg>
        <pc:picChg chg="add mod">
          <ac:chgData name="India Legal Support" userId="8b4862ae-755f-49cc-bc9b-68b37d26888c" providerId="ADAL" clId="{75832703-55CC-4B87-A891-273871CAAC2D}" dt="2026-09-08T12:54:31.193" v="317" actId="1076"/>
          <ac:picMkLst>
            <pc:docMk/>
            <pc:sldMk cId="2551792124" sldId="295"/>
            <ac:picMk id="14" creationId="{E640B733-9B23-0C31-6FF0-BCB8DB6A7965}"/>
          </ac:picMkLst>
        </pc:picChg>
      </pc:sldChg>
      <pc:sldChg chg="delSp mod">
        <pc:chgData name="India Legal Support" userId="8b4862ae-755f-49cc-bc9b-68b37d26888c" providerId="ADAL" clId="{75832703-55CC-4B87-A891-273871CAAC2D}" dt="2026-09-08T07:54:35.990" v="56" actId="478"/>
        <pc:sldMkLst>
          <pc:docMk/>
          <pc:sldMk cId="689807306" sldId="297"/>
        </pc:sldMkLst>
        <pc:spChg chg="del">
          <ac:chgData name="India Legal Support" userId="8b4862ae-755f-49cc-bc9b-68b37d26888c" providerId="ADAL" clId="{75832703-55CC-4B87-A891-273871CAAC2D}" dt="2026-09-08T07:54:35.990" v="56" actId="478"/>
          <ac:spMkLst>
            <pc:docMk/>
            <pc:sldMk cId="689807306" sldId="297"/>
            <ac:spMk id="6" creationId="{30F613F9-2CBA-CB80-D1EF-BC4C5CEB44D8}"/>
          </ac:spMkLst>
        </pc:spChg>
      </pc:sldChg>
      <pc:sldChg chg="modSp mod">
        <pc:chgData name="India Legal Support" userId="8b4862ae-755f-49cc-bc9b-68b37d26888c" providerId="ADAL" clId="{75832703-55CC-4B87-A891-273871CAAC2D}" dt="2026-09-08T07:53:07.992" v="37" actId="20577"/>
        <pc:sldMkLst>
          <pc:docMk/>
          <pc:sldMk cId="0" sldId="299"/>
        </pc:sldMkLst>
        <pc:spChg chg="mod">
          <ac:chgData name="India Legal Support" userId="8b4862ae-755f-49cc-bc9b-68b37d26888c" providerId="ADAL" clId="{75832703-55CC-4B87-A891-273871CAAC2D}" dt="2026-09-08T07:53:07.992" v="37" actId="20577"/>
          <ac:spMkLst>
            <pc:docMk/>
            <pc:sldMk cId="0" sldId="299"/>
            <ac:spMk id="45" creationId="{00000000-0000-0000-0000-000000000000}"/>
          </ac:spMkLst>
        </pc:spChg>
      </pc:sldChg>
      <pc:sldChg chg="modSp mod">
        <pc:chgData name="India Legal Support" userId="8b4862ae-755f-49cc-bc9b-68b37d26888c" providerId="ADAL" clId="{75832703-55CC-4B87-A891-273871CAAC2D}" dt="2026-09-08T07:53:17.841" v="39" actId="20577"/>
        <pc:sldMkLst>
          <pc:docMk/>
          <pc:sldMk cId="0" sldId="300"/>
        </pc:sldMkLst>
        <pc:spChg chg="mod">
          <ac:chgData name="India Legal Support" userId="8b4862ae-755f-49cc-bc9b-68b37d26888c" providerId="ADAL" clId="{75832703-55CC-4B87-A891-273871CAAC2D}" dt="2026-09-08T07:53:17.841" v="39" actId="20577"/>
          <ac:spMkLst>
            <pc:docMk/>
            <pc:sldMk cId="0" sldId="300"/>
            <ac:spMk id="13" creationId="{00000000-0000-0000-0000-000000000000}"/>
          </ac:spMkLst>
        </pc:spChg>
      </pc:sldChg>
      <pc:sldChg chg="addSp modSp mod">
        <pc:chgData name="India Legal Support" userId="8b4862ae-755f-49cc-bc9b-68b37d26888c" providerId="ADAL" clId="{75832703-55CC-4B87-A891-273871CAAC2D}" dt="2026-09-08T07:52:54.031" v="35" actId="20577"/>
        <pc:sldMkLst>
          <pc:docMk/>
          <pc:sldMk cId="0" sldId="302"/>
        </pc:sldMkLst>
        <pc:spChg chg="add mod">
          <ac:chgData name="India Legal Support" userId="8b4862ae-755f-49cc-bc9b-68b37d26888c" providerId="ADAL" clId="{75832703-55CC-4B87-A891-273871CAAC2D}" dt="2026-09-08T07:52:54.031" v="35" actId="20577"/>
          <ac:spMkLst>
            <pc:docMk/>
            <pc:sldMk cId="0" sldId="302"/>
            <ac:spMk id="11" creationId="{11623F11-B562-32D2-50DA-CE5B0AA85F16}"/>
          </ac:spMkLst>
        </pc:spChg>
      </pc:sldChg>
      <pc:sldChg chg="modSp mod">
        <pc:chgData name="India Legal Support" userId="8b4862ae-755f-49cc-bc9b-68b37d26888c" providerId="ADAL" clId="{75832703-55CC-4B87-A891-273871CAAC2D}" dt="2026-09-08T07:53:46.401" v="46" actId="1076"/>
        <pc:sldMkLst>
          <pc:docMk/>
          <pc:sldMk cId="0" sldId="303"/>
        </pc:sldMkLst>
        <pc:spChg chg="mod">
          <ac:chgData name="India Legal Support" userId="8b4862ae-755f-49cc-bc9b-68b37d26888c" providerId="ADAL" clId="{75832703-55CC-4B87-A891-273871CAAC2D}" dt="2026-09-08T07:53:46.401" v="46" actId="1076"/>
          <ac:spMkLst>
            <pc:docMk/>
            <pc:sldMk cId="0" sldId="303"/>
            <ac:spMk id="3" creationId="{00000000-0000-0000-0000-000000000000}"/>
          </ac:spMkLst>
        </pc:spChg>
        <pc:spChg chg="mod">
          <ac:chgData name="India Legal Support" userId="8b4862ae-755f-49cc-bc9b-68b37d26888c" providerId="ADAL" clId="{75832703-55CC-4B87-A891-273871CAAC2D}" dt="2026-09-08T07:53:43.095" v="45" actId="1076"/>
          <ac:spMkLst>
            <pc:docMk/>
            <pc:sldMk cId="0" sldId="303"/>
            <ac:spMk id="4" creationId="{00000000-0000-0000-0000-000000000000}"/>
          </ac:spMkLst>
        </pc:spChg>
        <pc:spChg chg="mod">
          <ac:chgData name="India Legal Support" userId="8b4862ae-755f-49cc-bc9b-68b37d26888c" providerId="ADAL" clId="{75832703-55CC-4B87-A891-273871CAAC2D}" dt="2026-09-08T07:53:37.680" v="44" actId="20577"/>
          <ac:spMkLst>
            <pc:docMk/>
            <pc:sldMk cId="0" sldId="303"/>
            <ac:spMk id="37" creationId="{00000000-0000-0000-0000-000000000000}"/>
          </ac:spMkLst>
        </pc:spChg>
      </pc:sldChg>
      <pc:sldChg chg="modSp mod">
        <pc:chgData name="India Legal Support" userId="8b4862ae-755f-49cc-bc9b-68b37d26888c" providerId="ADAL" clId="{75832703-55CC-4B87-A891-273871CAAC2D}" dt="2026-09-08T07:53:58.696" v="48" actId="20577"/>
        <pc:sldMkLst>
          <pc:docMk/>
          <pc:sldMk cId="0" sldId="304"/>
        </pc:sldMkLst>
        <pc:spChg chg="mod">
          <ac:chgData name="India Legal Support" userId="8b4862ae-755f-49cc-bc9b-68b37d26888c" providerId="ADAL" clId="{75832703-55CC-4B87-A891-273871CAAC2D}" dt="2026-09-08T07:53:58.696" v="48" actId="20577"/>
          <ac:spMkLst>
            <pc:docMk/>
            <pc:sldMk cId="0" sldId="304"/>
            <ac:spMk id="25" creationId="{00000000-0000-0000-0000-000000000000}"/>
          </ac:spMkLst>
        </pc:spChg>
      </pc:sldChg>
      <pc:sldChg chg="modSp mod">
        <pc:chgData name="India Legal Support" userId="8b4862ae-755f-49cc-bc9b-68b37d26888c" providerId="ADAL" clId="{75832703-55CC-4B87-A891-273871CAAC2D}" dt="2026-09-08T07:54:03.535" v="50" actId="20577"/>
        <pc:sldMkLst>
          <pc:docMk/>
          <pc:sldMk cId="0" sldId="305"/>
        </pc:sldMkLst>
        <pc:spChg chg="mod">
          <ac:chgData name="India Legal Support" userId="8b4862ae-755f-49cc-bc9b-68b37d26888c" providerId="ADAL" clId="{75832703-55CC-4B87-A891-273871CAAC2D}" dt="2026-09-08T07:54:03.535" v="50" actId="20577"/>
          <ac:spMkLst>
            <pc:docMk/>
            <pc:sldMk cId="0" sldId="305"/>
            <ac:spMk id="39" creationId="{00000000-0000-0000-0000-000000000000}"/>
          </ac:spMkLst>
        </pc:spChg>
      </pc:sldChg>
      <pc:sldChg chg="modSp mod">
        <pc:chgData name="India Legal Support" userId="8b4862ae-755f-49cc-bc9b-68b37d26888c" providerId="ADAL" clId="{75832703-55CC-4B87-A891-273871CAAC2D}" dt="2026-09-08T07:54:11.391" v="52" actId="20577"/>
        <pc:sldMkLst>
          <pc:docMk/>
          <pc:sldMk cId="0" sldId="306"/>
        </pc:sldMkLst>
        <pc:spChg chg="mod">
          <ac:chgData name="India Legal Support" userId="8b4862ae-755f-49cc-bc9b-68b37d26888c" providerId="ADAL" clId="{75832703-55CC-4B87-A891-273871CAAC2D}" dt="2026-09-08T07:54:11.391" v="52" actId="20577"/>
          <ac:spMkLst>
            <pc:docMk/>
            <pc:sldMk cId="0" sldId="306"/>
            <ac:spMk id="28" creationId="{00000000-0000-0000-0000-000000000000}"/>
          </ac:spMkLst>
        </pc:spChg>
      </pc:sldChg>
      <pc:sldChg chg="modSp mod">
        <pc:chgData name="India Legal Support" userId="8b4862ae-755f-49cc-bc9b-68b37d26888c" providerId="ADAL" clId="{75832703-55CC-4B87-A891-273871CAAC2D}" dt="2026-09-08T07:54:16.997" v="54" actId="20577"/>
        <pc:sldMkLst>
          <pc:docMk/>
          <pc:sldMk cId="0" sldId="307"/>
        </pc:sldMkLst>
        <pc:spChg chg="mod">
          <ac:chgData name="India Legal Support" userId="8b4862ae-755f-49cc-bc9b-68b37d26888c" providerId="ADAL" clId="{75832703-55CC-4B87-A891-273871CAAC2D}" dt="2026-09-08T07:54:16.997" v="54" actId="20577"/>
          <ac:spMkLst>
            <pc:docMk/>
            <pc:sldMk cId="0" sldId="307"/>
            <ac:spMk id="31" creationId="{00000000-0000-0000-0000-000000000000}"/>
          </ac:spMkLst>
        </pc:spChg>
      </pc:sldChg>
      <pc:sldChg chg="modSp mod">
        <pc:chgData name="India Legal Support" userId="8b4862ae-755f-49cc-bc9b-68b37d26888c" providerId="ADAL" clId="{75832703-55CC-4B87-A891-273871CAAC2D}" dt="2026-09-08T07:51:16.046" v="13" actId="14100"/>
        <pc:sldMkLst>
          <pc:docMk/>
          <pc:sldMk cId="3235718478" sldId="308"/>
        </pc:sldMkLst>
        <pc:spChg chg="mod">
          <ac:chgData name="India Legal Support" userId="8b4862ae-755f-49cc-bc9b-68b37d26888c" providerId="ADAL" clId="{75832703-55CC-4B87-A891-273871CAAC2D}" dt="2026-09-08T07:51:16.046" v="13" actId="14100"/>
          <ac:spMkLst>
            <pc:docMk/>
            <pc:sldMk cId="3235718478" sldId="308"/>
            <ac:spMk id="2" creationId="{0726E63D-CC06-7897-FF9A-8ECBA4B754AF}"/>
          </ac:spMkLst>
        </pc:spChg>
      </pc:sldChg>
      <pc:sldChg chg="addSp modSp mod">
        <pc:chgData name="India Legal Support" userId="8b4862ae-755f-49cc-bc9b-68b37d26888c" providerId="ADAL" clId="{75832703-55CC-4B87-A891-273871CAAC2D}" dt="2026-09-08T07:52:38.148" v="29" actId="20577"/>
        <pc:sldMkLst>
          <pc:docMk/>
          <pc:sldMk cId="0" sldId="310"/>
        </pc:sldMkLst>
        <pc:spChg chg="mod">
          <ac:chgData name="India Legal Support" userId="8b4862ae-755f-49cc-bc9b-68b37d26888c" providerId="ADAL" clId="{75832703-55CC-4B87-A891-273871CAAC2D}" dt="2026-09-08T07:51:31.462" v="16" actId="14100"/>
          <ac:spMkLst>
            <pc:docMk/>
            <pc:sldMk cId="0" sldId="310"/>
            <ac:spMk id="2" creationId="{00000000-0000-0000-0000-000000000000}"/>
          </ac:spMkLst>
        </pc:spChg>
        <pc:spChg chg="mod">
          <ac:chgData name="India Legal Support" userId="8b4862ae-755f-49cc-bc9b-68b37d26888c" providerId="ADAL" clId="{75832703-55CC-4B87-A891-273871CAAC2D}" dt="2026-09-08T07:51:35.319" v="17" actId="1076"/>
          <ac:spMkLst>
            <pc:docMk/>
            <pc:sldMk cId="0" sldId="310"/>
            <ac:spMk id="3" creationId="{00000000-0000-0000-0000-000000000000}"/>
          </ac:spMkLst>
        </pc:spChg>
        <pc:spChg chg="mod">
          <ac:chgData name="India Legal Support" userId="8b4862ae-755f-49cc-bc9b-68b37d26888c" providerId="ADAL" clId="{75832703-55CC-4B87-A891-273871CAAC2D}" dt="2026-09-08T07:51:41.505" v="18" actId="1076"/>
          <ac:spMkLst>
            <pc:docMk/>
            <pc:sldMk cId="0" sldId="310"/>
            <ac:spMk id="4" creationId="{00000000-0000-0000-0000-000000000000}"/>
          </ac:spMkLst>
        </pc:spChg>
        <pc:spChg chg="add mod">
          <ac:chgData name="India Legal Support" userId="8b4862ae-755f-49cc-bc9b-68b37d26888c" providerId="ADAL" clId="{75832703-55CC-4B87-A891-273871CAAC2D}" dt="2026-09-08T07:52:38.148" v="29" actId="20577"/>
          <ac:spMkLst>
            <pc:docMk/>
            <pc:sldMk cId="0" sldId="310"/>
            <ac:spMk id="14" creationId="{000C328E-10C5-CDE6-6842-2E0DC9516F48}"/>
          </ac:spMkLst>
        </pc:spChg>
      </pc:sldChg>
      <pc:sldChg chg="addSp modSp mod">
        <pc:chgData name="India Legal Support" userId="8b4862ae-755f-49cc-bc9b-68b37d26888c" providerId="ADAL" clId="{75832703-55CC-4B87-A891-273871CAAC2D}" dt="2026-09-08T07:52:45.395" v="32" actId="20577"/>
        <pc:sldMkLst>
          <pc:docMk/>
          <pc:sldMk cId="0" sldId="311"/>
        </pc:sldMkLst>
        <pc:spChg chg="mod">
          <ac:chgData name="India Legal Support" userId="8b4862ae-755f-49cc-bc9b-68b37d26888c" providerId="ADAL" clId="{75832703-55CC-4B87-A891-273871CAAC2D}" dt="2026-09-08T07:52:06.635" v="22" actId="1076"/>
          <ac:spMkLst>
            <pc:docMk/>
            <pc:sldMk cId="0" sldId="311"/>
            <ac:spMk id="2" creationId="{00000000-0000-0000-0000-000000000000}"/>
          </ac:spMkLst>
        </pc:spChg>
        <pc:spChg chg="mod">
          <ac:chgData name="India Legal Support" userId="8b4862ae-755f-49cc-bc9b-68b37d26888c" providerId="ADAL" clId="{75832703-55CC-4B87-A891-273871CAAC2D}" dt="2026-09-08T07:52:13.089" v="23" actId="1076"/>
          <ac:spMkLst>
            <pc:docMk/>
            <pc:sldMk cId="0" sldId="311"/>
            <ac:spMk id="3" creationId="{00000000-0000-0000-0000-000000000000}"/>
          </ac:spMkLst>
        </pc:spChg>
        <pc:spChg chg="mod">
          <ac:chgData name="India Legal Support" userId="8b4862ae-755f-49cc-bc9b-68b37d26888c" providerId="ADAL" clId="{75832703-55CC-4B87-A891-273871CAAC2D}" dt="2026-09-08T07:52:19.161" v="24" actId="1076"/>
          <ac:spMkLst>
            <pc:docMk/>
            <pc:sldMk cId="0" sldId="311"/>
            <ac:spMk id="4" creationId="{00000000-0000-0000-0000-000000000000}"/>
          </ac:spMkLst>
        </pc:spChg>
        <pc:spChg chg="add mod">
          <ac:chgData name="India Legal Support" userId="8b4862ae-755f-49cc-bc9b-68b37d26888c" providerId="ADAL" clId="{75832703-55CC-4B87-A891-273871CAAC2D}" dt="2026-09-08T07:52:45.395" v="32" actId="20577"/>
          <ac:spMkLst>
            <pc:docMk/>
            <pc:sldMk cId="0" sldId="311"/>
            <ac:spMk id="9" creationId="{831D213F-BEC2-CD85-4650-7675023E6C89}"/>
          </ac:spMkLst>
        </pc:spChg>
      </pc:sldChg>
      <pc:sldChg chg="addSp delSp modSp add mod">
        <pc:chgData name="India Legal Support" userId="8b4862ae-755f-49cc-bc9b-68b37d26888c" providerId="ADAL" clId="{75832703-55CC-4B87-A891-273871CAAC2D}" dt="2026-09-08T13:00:46.151" v="409" actId="1076"/>
        <pc:sldMkLst>
          <pc:docMk/>
          <pc:sldMk cId="3549318207" sldId="312"/>
        </pc:sldMkLst>
        <pc:spChg chg="mod">
          <ac:chgData name="India Legal Support" userId="8b4862ae-755f-49cc-bc9b-68b37d26888c" providerId="ADAL" clId="{75832703-55CC-4B87-A891-273871CAAC2D}" dt="2026-09-08T12:44:15.869" v="223" actId="14100"/>
          <ac:spMkLst>
            <pc:docMk/>
            <pc:sldMk cId="3549318207" sldId="312"/>
            <ac:spMk id="7" creationId="{630C032A-4BE7-52E9-DB4D-2E296F4FAF01}"/>
          </ac:spMkLst>
        </pc:spChg>
        <pc:spChg chg="add mod">
          <ac:chgData name="India Legal Support" userId="8b4862ae-755f-49cc-bc9b-68b37d26888c" providerId="ADAL" clId="{75832703-55CC-4B87-A891-273871CAAC2D}" dt="2026-09-08T13:00:12.099" v="403" actId="1076"/>
          <ac:spMkLst>
            <pc:docMk/>
            <pc:sldMk cId="3549318207" sldId="312"/>
            <ac:spMk id="10" creationId="{C57576D3-A872-89C2-466B-A5CB1E9C4933}"/>
          </ac:spMkLst>
        </pc:spChg>
        <pc:spChg chg="del">
          <ac:chgData name="India Legal Support" userId="8b4862ae-755f-49cc-bc9b-68b37d26888c" providerId="ADAL" clId="{75832703-55CC-4B87-A891-273871CAAC2D}" dt="2026-09-08T12:42:04.813" v="201" actId="478"/>
          <ac:spMkLst>
            <pc:docMk/>
            <pc:sldMk cId="3549318207" sldId="312"/>
            <ac:spMk id="11" creationId="{0AC28AD4-6B31-652E-E406-AB19BB4B0119}"/>
          </ac:spMkLst>
        </pc:spChg>
        <pc:spChg chg="del mod">
          <ac:chgData name="India Legal Support" userId="8b4862ae-755f-49cc-bc9b-68b37d26888c" providerId="ADAL" clId="{75832703-55CC-4B87-A891-273871CAAC2D}" dt="2026-09-08T12:42:08.087" v="203" actId="478"/>
          <ac:spMkLst>
            <pc:docMk/>
            <pc:sldMk cId="3549318207" sldId="312"/>
            <ac:spMk id="12" creationId="{AF7350D8-F75F-EDEC-953B-CF2127475570}"/>
          </ac:spMkLst>
        </pc:spChg>
        <pc:spChg chg="add mod">
          <ac:chgData name="India Legal Support" userId="8b4862ae-755f-49cc-bc9b-68b37d26888c" providerId="ADAL" clId="{75832703-55CC-4B87-A891-273871CAAC2D}" dt="2026-09-08T13:00:15.122" v="404" actId="1076"/>
          <ac:spMkLst>
            <pc:docMk/>
            <pc:sldMk cId="3549318207" sldId="312"/>
            <ac:spMk id="13" creationId="{1351067B-0E72-DCE6-9EBF-84B04AB9B6B0}"/>
          </ac:spMkLst>
        </pc:spChg>
        <pc:spChg chg="add mod">
          <ac:chgData name="India Legal Support" userId="8b4862ae-755f-49cc-bc9b-68b37d26888c" providerId="ADAL" clId="{75832703-55CC-4B87-A891-273871CAAC2D}" dt="2026-09-08T12:59:59.604" v="400" actId="1076"/>
          <ac:spMkLst>
            <pc:docMk/>
            <pc:sldMk cId="3549318207" sldId="312"/>
            <ac:spMk id="15" creationId="{5C69297B-0B9D-743B-B4AB-A11461CB8C35}"/>
          </ac:spMkLst>
        </pc:spChg>
        <pc:spChg chg="mod">
          <ac:chgData name="India Legal Support" userId="8b4862ae-755f-49cc-bc9b-68b37d26888c" providerId="ADAL" clId="{75832703-55CC-4B87-A891-273871CAAC2D}" dt="2026-09-08T12:35:45.458" v="159" actId="1076"/>
          <ac:spMkLst>
            <pc:docMk/>
            <pc:sldMk cId="3549318207" sldId="312"/>
            <ac:spMk id="16" creationId="{0207DB51-EAF6-DEB7-DFB8-0E0E0C6B84DC}"/>
          </ac:spMkLst>
        </pc:spChg>
        <pc:spChg chg="mod">
          <ac:chgData name="India Legal Support" userId="8b4862ae-755f-49cc-bc9b-68b37d26888c" providerId="ADAL" clId="{75832703-55CC-4B87-A891-273871CAAC2D}" dt="2026-09-08T12:58:58.763" v="370" actId="1076"/>
          <ac:spMkLst>
            <pc:docMk/>
            <pc:sldMk cId="3549318207" sldId="312"/>
            <ac:spMk id="17" creationId="{0CEF28ED-5F96-282B-CD38-501F6236CB6A}"/>
          </ac:spMkLst>
        </pc:spChg>
        <pc:spChg chg="mod">
          <ac:chgData name="India Legal Support" userId="8b4862ae-755f-49cc-bc9b-68b37d26888c" providerId="ADAL" clId="{75832703-55CC-4B87-A891-273871CAAC2D}" dt="2026-09-08T12:59:04.157" v="371" actId="1076"/>
          <ac:spMkLst>
            <pc:docMk/>
            <pc:sldMk cId="3549318207" sldId="312"/>
            <ac:spMk id="18" creationId="{45F9D9D0-D113-82AA-5314-0C4F9B763C33}"/>
          </ac:spMkLst>
        </pc:spChg>
        <pc:spChg chg="add mod">
          <ac:chgData name="India Legal Support" userId="8b4862ae-755f-49cc-bc9b-68b37d26888c" providerId="ADAL" clId="{75832703-55CC-4B87-A891-273871CAAC2D}" dt="2026-09-08T13:00:46.151" v="409" actId="1076"/>
          <ac:spMkLst>
            <pc:docMk/>
            <pc:sldMk cId="3549318207" sldId="312"/>
            <ac:spMk id="19" creationId="{7A94A8FA-986B-E243-B5F7-1F08895D4989}"/>
          </ac:spMkLst>
        </pc:spChg>
        <pc:picChg chg="add mod modCrop">
          <ac:chgData name="India Legal Support" userId="8b4862ae-755f-49cc-bc9b-68b37d26888c" providerId="ADAL" clId="{75832703-55CC-4B87-A891-273871CAAC2D}" dt="2026-09-08T12:42:53.958" v="212" actId="1036"/>
          <ac:picMkLst>
            <pc:docMk/>
            <pc:sldMk cId="3549318207" sldId="312"/>
            <ac:picMk id="5" creationId="{E1537D5F-0AE2-9C39-A015-616C1E4CE27C}"/>
          </ac:picMkLst>
        </pc:picChg>
        <pc:picChg chg="del">
          <ac:chgData name="India Legal Support" userId="8b4862ae-755f-49cc-bc9b-68b37d26888c" providerId="ADAL" clId="{75832703-55CC-4B87-A891-273871CAAC2D}" dt="2026-09-08T12:38:31.325" v="160" actId="478"/>
          <ac:picMkLst>
            <pc:docMk/>
            <pc:sldMk cId="3549318207" sldId="312"/>
            <ac:picMk id="8" creationId="{CFE616AC-F047-19AD-DF6B-0369C7D1CB8E}"/>
          </ac:picMkLst>
        </pc:picChg>
        <pc:picChg chg="add mod modCrop">
          <ac:chgData name="India Legal Support" userId="8b4862ae-755f-49cc-bc9b-68b37d26888c" providerId="ADAL" clId="{75832703-55CC-4B87-A891-273871CAAC2D}" dt="2026-09-08T12:43:06.947" v="214" actId="14100"/>
          <ac:picMkLst>
            <pc:docMk/>
            <pc:sldMk cId="3549318207" sldId="312"/>
            <ac:picMk id="9" creationId="{25FF270E-50BF-86D4-FB6E-5DE59CCC02E1}"/>
          </ac:picMkLst>
        </pc:picChg>
        <pc:picChg chg="del">
          <ac:chgData name="India Legal Support" userId="8b4862ae-755f-49cc-bc9b-68b37d26888c" providerId="ADAL" clId="{75832703-55CC-4B87-A891-273871CAAC2D}" dt="2026-09-08T12:39:16.901" v="170" actId="478"/>
          <ac:picMkLst>
            <pc:docMk/>
            <pc:sldMk cId="3549318207" sldId="312"/>
            <ac:picMk id="14" creationId="{E6B874D9-9CB5-C8E1-B848-A53FDF44AFC4}"/>
          </ac:picMkLst>
        </pc:picChg>
      </pc:sldChg>
      <pc:sldChg chg="addSp delSp modSp add mod">
        <pc:chgData name="India Legal Support" userId="8b4862ae-755f-49cc-bc9b-68b37d26888c" providerId="ADAL" clId="{75832703-55CC-4B87-A891-273871CAAC2D}" dt="2026-09-08T13:05:49.259" v="499" actId="1076"/>
        <pc:sldMkLst>
          <pc:docMk/>
          <pc:sldMk cId="901835821" sldId="313"/>
        </pc:sldMkLst>
        <pc:spChg chg="mod">
          <ac:chgData name="India Legal Support" userId="8b4862ae-755f-49cc-bc9b-68b37d26888c" providerId="ADAL" clId="{75832703-55CC-4B87-A891-273871CAAC2D}" dt="2026-09-08T12:47:09.573" v="268" actId="20577"/>
          <ac:spMkLst>
            <pc:docMk/>
            <pc:sldMk cId="901835821" sldId="313"/>
            <ac:spMk id="7" creationId="{22EDBC86-CD0E-5EEB-D287-7A4AEC1F7593}"/>
          </ac:spMkLst>
        </pc:spChg>
        <pc:spChg chg="mod">
          <ac:chgData name="India Legal Support" userId="8b4862ae-755f-49cc-bc9b-68b37d26888c" providerId="ADAL" clId="{75832703-55CC-4B87-A891-273871CAAC2D}" dt="2026-09-08T13:04:28.954" v="468" actId="14100"/>
          <ac:spMkLst>
            <pc:docMk/>
            <pc:sldMk cId="901835821" sldId="313"/>
            <ac:spMk id="10" creationId="{4476F7C3-4C2E-0468-E403-9F8DC9D92F7C}"/>
          </ac:spMkLst>
        </pc:spChg>
        <pc:spChg chg="mod">
          <ac:chgData name="India Legal Support" userId="8b4862ae-755f-49cc-bc9b-68b37d26888c" providerId="ADAL" clId="{75832703-55CC-4B87-A891-273871CAAC2D}" dt="2026-09-08T13:04:37.501" v="469" actId="1076"/>
          <ac:spMkLst>
            <pc:docMk/>
            <pc:sldMk cId="901835821" sldId="313"/>
            <ac:spMk id="13" creationId="{F553C986-E616-C1EE-0977-9BDE1D443B08}"/>
          </ac:spMkLst>
        </pc:spChg>
        <pc:spChg chg="add mod">
          <ac:chgData name="India Legal Support" userId="8b4862ae-755f-49cc-bc9b-68b37d26888c" providerId="ADAL" clId="{75832703-55CC-4B87-A891-273871CAAC2D}" dt="2026-09-08T13:02:46.296" v="452" actId="14100"/>
          <ac:spMkLst>
            <pc:docMk/>
            <pc:sldMk cId="901835821" sldId="313"/>
            <ac:spMk id="15" creationId="{17E78AF6-58E8-D86F-2204-7B812E61AFBE}"/>
          </ac:spMkLst>
        </pc:spChg>
        <pc:spChg chg="mod">
          <ac:chgData name="India Legal Support" userId="8b4862ae-755f-49cc-bc9b-68b37d26888c" providerId="ADAL" clId="{75832703-55CC-4B87-A891-273871CAAC2D}" dt="2026-09-08T12:47:04.602" v="267" actId="108"/>
          <ac:spMkLst>
            <pc:docMk/>
            <pc:sldMk cId="901835821" sldId="313"/>
            <ac:spMk id="16" creationId="{6EA14207-5DF9-0CB3-940F-4B9DC8A0363D}"/>
          </ac:spMkLst>
        </pc:spChg>
        <pc:spChg chg="mod">
          <ac:chgData name="India Legal Support" userId="8b4862ae-755f-49cc-bc9b-68b37d26888c" providerId="ADAL" clId="{75832703-55CC-4B87-A891-273871CAAC2D}" dt="2026-09-08T13:04:19.801" v="466" actId="14100"/>
          <ac:spMkLst>
            <pc:docMk/>
            <pc:sldMk cId="901835821" sldId="313"/>
            <ac:spMk id="17" creationId="{BB91EFE2-29F8-7B03-0A55-67D5D2229793}"/>
          </ac:spMkLst>
        </pc:spChg>
        <pc:spChg chg="mod">
          <ac:chgData name="India Legal Support" userId="8b4862ae-755f-49cc-bc9b-68b37d26888c" providerId="ADAL" clId="{75832703-55CC-4B87-A891-273871CAAC2D}" dt="2026-09-08T13:04:24.545" v="467" actId="1076"/>
          <ac:spMkLst>
            <pc:docMk/>
            <pc:sldMk cId="901835821" sldId="313"/>
            <ac:spMk id="18" creationId="{1301193A-3F2B-0A5A-4CB9-33EA6951E2EF}"/>
          </ac:spMkLst>
        </pc:spChg>
        <pc:spChg chg="add mod">
          <ac:chgData name="India Legal Support" userId="8b4862ae-755f-49cc-bc9b-68b37d26888c" providerId="ADAL" clId="{75832703-55CC-4B87-A891-273871CAAC2D}" dt="2026-09-08T13:03:02.314" v="454" actId="1076"/>
          <ac:spMkLst>
            <pc:docMk/>
            <pc:sldMk cId="901835821" sldId="313"/>
            <ac:spMk id="20" creationId="{1DBB2818-37CB-1E73-E72F-7998D16C1931}"/>
          </ac:spMkLst>
        </pc:spChg>
        <pc:spChg chg="add mod">
          <ac:chgData name="India Legal Support" userId="8b4862ae-755f-49cc-bc9b-68b37d26888c" providerId="ADAL" clId="{75832703-55CC-4B87-A891-273871CAAC2D}" dt="2026-09-08T13:05:14.632" v="490" actId="20577"/>
          <ac:spMkLst>
            <pc:docMk/>
            <pc:sldMk cId="901835821" sldId="313"/>
            <ac:spMk id="21" creationId="{3014C584-F084-26E0-3B0E-EDAEF07E299C}"/>
          </ac:spMkLst>
        </pc:spChg>
        <pc:spChg chg="add mod">
          <ac:chgData name="India Legal Support" userId="8b4862ae-755f-49cc-bc9b-68b37d26888c" providerId="ADAL" clId="{75832703-55CC-4B87-A891-273871CAAC2D}" dt="2026-09-08T13:05:49.259" v="499" actId="1076"/>
          <ac:spMkLst>
            <pc:docMk/>
            <pc:sldMk cId="901835821" sldId="313"/>
            <ac:spMk id="22" creationId="{C304460D-43A2-63A9-51E2-4583473F829A}"/>
          </ac:spMkLst>
        </pc:spChg>
        <pc:picChg chg="del">
          <ac:chgData name="India Legal Support" userId="8b4862ae-755f-49cc-bc9b-68b37d26888c" providerId="ADAL" clId="{75832703-55CC-4B87-A891-273871CAAC2D}" dt="2026-09-08T12:47:22.682" v="269" actId="478"/>
          <ac:picMkLst>
            <pc:docMk/>
            <pc:sldMk cId="901835821" sldId="313"/>
            <ac:picMk id="5" creationId="{4E5E3B57-2452-6811-FD35-465EC7064417}"/>
          </ac:picMkLst>
        </pc:picChg>
        <pc:picChg chg="add mod modCrop">
          <ac:chgData name="India Legal Support" userId="8b4862ae-755f-49cc-bc9b-68b37d26888c" providerId="ADAL" clId="{75832703-55CC-4B87-A891-273871CAAC2D}" dt="2026-09-08T12:52:17.543" v="306" actId="14100"/>
          <ac:picMkLst>
            <pc:docMk/>
            <pc:sldMk cId="901835821" sldId="313"/>
            <ac:picMk id="6" creationId="{5F55BF38-1398-B1CC-F2CC-43BE0EB64421}"/>
          </ac:picMkLst>
        </pc:picChg>
        <pc:picChg chg="del">
          <ac:chgData name="India Legal Support" userId="8b4862ae-755f-49cc-bc9b-68b37d26888c" providerId="ADAL" clId="{75832703-55CC-4B87-A891-273871CAAC2D}" dt="2026-09-08T12:47:36.156" v="273" actId="478"/>
          <ac:picMkLst>
            <pc:docMk/>
            <pc:sldMk cId="901835821" sldId="313"/>
            <ac:picMk id="9" creationId="{A4ADD1F2-4822-5C65-E101-13743A05373C}"/>
          </ac:picMkLst>
        </pc:picChg>
        <pc:picChg chg="add mod modCrop">
          <ac:chgData name="India Legal Support" userId="8b4862ae-755f-49cc-bc9b-68b37d26888c" providerId="ADAL" clId="{75832703-55CC-4B87-A891-273871CAAC2D}" dt="2026-09-08T13:01:33.079" v="415" actId="1076"/>
          <ac:picMkLst>
            <pc:docMk/>
            <pc:sldMk cId="901835821" sldId="313"/>
            <ac:picMk id="11" creationId="{11C848A8-C5E6-267E-5B10-1F173C97EE37}"/>
          </ac:picMkLst>
        </pc:picChg>
        <pc:picChg chg="add mod modCrop">
          <ac:chgData name="India Legal Support" userId="8b4862ae-755f-49cc-bc9b-68b37d26888c" providerId="ADAL" clId="{75832703-55CC-4B87-A891-273871CAAC2D}" dt="2026-09-08T13:01:29.303" v="414" actId="1076"/>
          <ac:picMkLst>
            <pc:docMk/>
            <pc:sldMk cId="901835821" sldId="313"/>
            <ac:picMk id="14" creationId="{28E8D9E7-A840-513F-2B1E-0BA64E0135A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3F2F9D-C5B4-59CE-BE7C-D3B0795C21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FD328B-FFB5-7B38-4E9B-4E971252D1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DCF66-1D0B-47AE-ABCF-DDBF8CB6C96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44BF3-FA17-CE84-7068-A28609D3D9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19B66-9180-AA1C-1A31-65E21D5656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CAD7F-B6EE-4992-BA11-6288B08FA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897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93026-B3CC-4742-8494-9A5DC4319FF0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EFF1AC-97C7-4A0C-B568-280BB13F5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721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FF1AC-97C7-4A0C-B568-280BB13F5F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88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FF1AC-97C7-4A0C-B568-280BB13F5F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94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FF1AC-97C7-4A0C-B568-280BB13F5F1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4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ADAC-133D-B81B-7027-0FC9EFAC6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746F4-F72D-5ED0-553D-F2F7CCE2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C1E19-8AE0-1F57-5D39-5EED45279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61AA8-BC96-460B-98CA-929CDACCFA1D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79771-F823-9435-7714-7878FD0A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B48-BC56-60E1-214B-CE4585CB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806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D73C0-9E8B-DCDD-D129-E8D3E610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34648-4357-FE3A-774D-ABE061CAD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CFEF6-2A82-D532-69EA-2C124FB6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AD18-1693-401A-81A4-055F194738CD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456DD-2D0F-18A5-E0E5-3D21E728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3F4EC-482A-5E6B-F4C6-3CDD0C37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F9D6-D63A-A8A9-056C-746D24DD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521D1-20A0-B890-261D-A877BC18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1DCC9-FFB7-83A7-0B4E-52594A4F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761-1931-49C4-BDC5-6626B2B9DA87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AD9C2-E68A-7E58-A89C-203484ED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2A7BF-B438-E560-D963-EB9AB46E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3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EEDD-E152-ED08-8326-7D511762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0DE3D-C836-D1A5-D626-46767F7E87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BEDA1-A44B-E394-7C5A-9D07EFD4A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B81E0-9E14-6639-6240-A04E54BB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274EA-C550-4003-A520-69BF3CBE8C34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C5D88-6760-DAA0-BA57-64911B1F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E5DD5-E624-5C5A-7CF2-88DDE907D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29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6B0D-2384-F026-2FCE-10360195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A232D-95F9-7731-52A8-A1958CAD9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D9802-5030-7DB8-ED15-A36E4E1FA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EDF069-00B2-3986-7C68-8BA2B1B9F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125F3-3CDC-C6B6-676F-CACCCB64F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F71ED5-EE73-3EC1-50E0-053B2E3C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0D6CD-B059-4215-93DA-98D6F18F4A08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DE0E4-F1AA-9E24-BE67-6B629112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1F37F5-27C8-22A6-193A-643DC1FA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50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FFAC-5A97-4B5B-D6BA-58DFC306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5DF82-D217-FBC0-8D54-FD0F04A4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8FD73-6282-4BB5-ACA1-E89070650E58}" type="datetime1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50F13-88B6-4F61-B572-940E91631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26306-D7D1-3800-6CA6-292BE81F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9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706DD-7AF4-7831-E293-F915DE0CF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8651B-96D9-46CE-B092-0B3A94695359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C9B536-630B-98C8-D337-EE15F4D9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C952A-5E1D-F48E-B73E-18D7166C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9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7DBD-3FA8-9996-DA67-8B70EEA20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9AACD-0AE3-0C1F-C724-FC2826D81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F83F4-5E41-5F32-FA35-B0C12F5D9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AE4A3-65AC-2982-D866-686038C3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72C0-422F-4730-85D0-9BEA9AD9185E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AF354-CED8-7860-11E5-17AC135C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B1244-FF1A-C3F3-4837-F7A700C4C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25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BC79-0556-A4C3-DCCA-27CBB5D8E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CEEEE-8DC5-C1FA-EFC7-724185D42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DD68C-C135-14B0-EE5F-D4B505CEC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01111-7491-B147-FE1E-72A8E2441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3573-61C9-43B5-A7BB-3CEFFCD2CC0A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18087-71B4-75D6-4F25-E003644B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E041C-54B2-E98D-2980-C5A5BE62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24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0318-A6BE-CB27-2C5F-E6DC1794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E1271-8A5A-0C9A-A68F-4115B630A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B41DE-9CEE-F8D9-7D75-17ACF4B30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8AFAD-CD1F-4EE2-B830-49E99933C10D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28FA6-F528-65D7-E219-6756E188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AEC64-D001-7589-5B12-423C698C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1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40ACE-E0DE-42E8-ED7A-F76B6216E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17DCB-14B2-132D-2672-A5C615AE3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2EC68-9DC4-BA20-CBCE-3E0764ED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64F0-0DD7-410E-A1ED-E7AFE825CC88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B0A25-F302-1EA9-4F50-0891E95E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AE57E-6558-ACF5-1656-14DBA533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5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B79BA-29C8-5A09-D239-5BE7A7FF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69EE5-3869-1212-7961-2999D8965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40983-8727-1412-DE80-62BCE1795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634A5-1375-42B7-A36D-BA8EC897A2CF}" type="datetime1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C1A1B-79CC-EB9C-9015-046803B93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CEA4F-6A93-0F96-CA08-F279B2740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41EA0-C7B4-865E-C459-4D075CF3058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782425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76D2B-7700-07CD-921B-7A42314CADD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50206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11D31-C950-F4B9-D9A7-0451F716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white background with red and grey crosses&#10;&#10;Description automatically generated">
            <a:extLst>
              <a:ext uri="{FF2B5EF4-FFF2-40B4-BE49-F238E27FC236}">
                <a16:creationId xmlns:a16="http://schemas.microsoft.com/office/drawing/2014/main" id="{D3DFE68E-7230-3279-A3AB-C2A8B17CB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889" r="-2" b="-2"/>
          <a:stretch/>
        </p:blipFill>
        <p:spPr>
          <a:xfrm>
            <a:off x="6096001" y="10"/>
            <a:ext cx="6095999" cy="6857992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D1BE704B-EF54-4A52-9A7A-8A532A66469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458619" cy="1631215"/>
          </a:xfrm>
          <a:prstGeom prst="rect">
            <a:avLst/>
          </a:prstGeom>
        </p:spPr>
        <p:txBody>
          <a:bodyPr anchor="b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Name: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Rutuja Parab &amp; Shubham Rajput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Enrolment Number: </a:t>
            </a:r>
            <a:r>
              <a:rPr lang="en-IN" sz="1900" dirty="0"/>
              <a:t>EN12026094776,</a:t>
            </a:r>
            <a:br>
              <a:rPr lang="en-IN" sz="2000" dirty="0"/>
            </a:b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Batch Code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DA-74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Mentor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Rohit Kamboj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4E290E-E2A4-481E-9BCB-06C7AF1E2BE2}"/>
              </a:ext>
            </a:extLst>
          </p:cNvPr>
          <p:cNvSpPr txBox="1"/>
          <p:nvPr/>
        </p:nvSpPr>
        <p:spPr>
          <a:xfrm>
            <a:off x="1" y="2660492"/>
            <a:ext cx="604416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OTT PLATFORM BUSINESS </a:t>
            </a:r>
          </a:p>
          <a:p>
            <a:pPr algn="ctr"/>
            <a:r>
              <a:rPr lang="en-IN" sz="3200" b="1" dirty="0"/>
              <a:t>ANALYTICS</a:t>
            </a:r>
          </a:p>
          <a:p>
            <a:endParaRPr lang="en-IN" b="1" dirty="0"/>
          </a:p>
          <a:p>
            <a:pPr algn="ctr"/>
            <a:endParaRPr lang="en-IN" dirty="0"/>
          </a:p>
          <a:p>
            <a:pPr algn="ctr"/>
            <a:r>
              <a:rPr lang="en-IN" dirty="0"/>
              <a:t>From viewer behaviour to data-driven content &amp; </a:t>
            </a:r>
          </a:p>
          <a:p>
            <a:pPr algn="ctr"/>
            <a:r>
              <a:rPr lang="en-IN" dirty="0"/>
              <a:t>retention decisions</a:t>
            </a:r>
          </a:p>
        </p:txBody>
      </p:sp>
    </p:spTree>
    <p:extLst>
      <p:ext uri="{BB962C8B-B14F-4D97-AF65-F5344CB8AC3E}">
        <p14:creationId xmlns:p14="http://schemas.microsoft.com/office/powerpoint/2010/main" val="299717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4EBB2-76D3-9B07-D382-38EE396E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468" y="3517247"/>
            <a:ext cx="10380573" cy="690418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Business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80CDE-6AD0-1035-1B8D-99A126A81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50" y="4322216"/>
            <a:ext cx="10381205" cy="1841624"/>
          </a:xfrm>
        </p:spPr>
        <p:txBody>
          <a:bodyPr>
            <a:normAutofit fontScale="55000" lnSpcReduction="20000"/>
          </a:bodyPr>
          <a:lstStyle/>
          <a:p>
            <a:pPr marL="285750" indent="-285750"/>
            <a:r>
              <a:rPr lang="en-US" sz="3100" dirty="0">
                <a:solidFill>
                  <a:srgbClr val="262D34"/>
                </a:solidFill>
              </a:rPr>
              <a:t>Analyze Content Performance and Viewer Engagement</a:t>
            </a:r>
          </a:p>
          <a:p>
            <a:pPr marL="285750" indent="-285750"/>
            <a:r>
              <a:rPr lang="en-US" sz="3100" dirty="0">
                <a:solidFill>
                  <a:srgbClr val="262D34"/>
                </a:solidFill>
              </a:rPr>
              <a:t>Evaluate Platform and Content Portfolio Performance </a:t>
            </a:r>
          </a:p>
          <a:p>
            <a:pPr marL="285750" indent="-285750"/>
            <a:r>
              <a:rPr lang="en-US" sz="3100" dirty="0">
                <a:solidFill>
                  <a:srgbClr val="262D34"/>
                </a:solidFill>
              </a:rPr>
              <a:t>Analyze Viewing Behavior Across Customer Segments </a:t>
            </a:r>
          </a:p>
          <a:p>
            <a:pPr marL="285750" indent="-285750"/>
            <a:r>
              <a:rPr lang="en-US" sz="3100" dirty="0">
                <a:solidFill>
                  <a:srgbClr val="262D34"/>
                </a:solidFill>
              </a:rPr>
              <a:t>Analyze Device and Time-Based Viewing Patterns </a:t>
            </a:r>
          </a:p>
          <a:p>
            <a:pPr marL="285750" indent="-285750"/>
            <a:r>
              <a:rPr lang="en-US" sz="3100" dirty="0">
                <a:solidFill>
                  <a:srgbClr val="262D34"/>
                </a:solidFill>
              </a:rPr>
              <a:t>Analyze Subscription Retention and Churn Drivers </a:t>
            </a:r>
          </a:p>
          <a:p>
            <a:pPr marL="285750" indent="-285750"/>
            <a:r>
              <a:rPr lang="en-US" sz="3100" dirty="0">
                <a:solidFill>
                  <a:srgbClr val="262D34"/>
                </a:solidFill>
              </a:rPr>
              <a:t>Evaluate Ratings and Feedback as Indicators of Content Success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32313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32313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A6222-2823-1447-BBEE-720ED4C8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5096" y="6489082"/>
            <a:ext cx="808703" cy="365125"/>
          </a:xfrm>
        </p:spPr>
        <p:txBody>
          <a:bodyPr/>
          <a:lstStyle/>
          <a:p>
            <a:fld id="{B4A918BC-4D43-4B42-B3C0-E7EBE25E6AF0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156923-AB7F-2BFA-6C0B-2EB206DBD649}"/>
              </a:ext>
            </a:extLst>
          </p:cNvPr>
          <p:cNvSpPr txBox="1">
            <a:spLocks/>
          </p:cNvSpPr>
          <p:nvPr/>
        </p:nvSpPr>
        <p:spPr>
          <a:xfrm>
            <a:off x="650468" y="67838"/>
            <a:ext cx="10380573" cy="707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Statement:      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C1BE8E-DA3C-68F0-409C-79DC1B5DD6EC}"/>
              </a:ext>
            </a:extLst>
          </p:cNvPr>
          <p:cNvSpPr txBox="1">
            <a:spLocks/>
          </p:cNvSpPr>
          <p:nvPr/>
        </p:nvSpPr>
        <p:spPr>
          <a:xfrm>
            <a:off x="649835" y="920287"/>
            <a:ext cx="10703965" cy="25048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 b="0">
                <a:solidFill>
                  <a:srgbClr val="262D34"/>
                </a:solidFill>
              </a:defRPr>
            </a:pPr>
            <a:r>
              <a:rPr lang="en-US" sz="1700" dirty="0"/>
              <a:t>OTT platforms generate large volumes of content, viewing, customer, subscription and feedback data. </a:t>
            </a:r>
            <a:br>
              <a:rPr lang="en-US" sz="1700" dirty="0"/>
            </a:br>
            <a:r>
              <a:rPr lang="en-US" sz="1700" dirty="0"/>
              <a:t>The business needs evidence to identify what drives engagement, content performance and retention.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62D34"/>
                </a:solidFill>
              </a:defRPr>
            </a:pPr>
            <a:r>
              <a:rPr lang="en-US" sz="1700" dirty="0"/>
              <a:t>Key decisions: which content deserves promotion, which audiences/devices show stronger engagement, and where churn is concentrated.</a:t>
            </a:r>
          </a:p>
          <a:p>
            <a:pPr>
              <a:spcAft>
                <a:spcPts val="1000"/>
              </a:spcAft>
              <a:defRPr sz="2000" b="0">
                <a:solidFill>
                  <a:srgbClr val="262D34"/>
                </a:solidFill>
              </a:defRPr>
            </a:pPr>
            <a:r>
              <a:rPr lang="en-US" sz="1700" dirty="0"/>
              <a:t>Target audience: Content &amp; Programming, Product &amp; Engagement, Marketing &amp; Retention, and Business Leadership.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BB404B-E381-84DA-9A32-35055F7A4FA8}"/>
              </a:ext>
            </a:extLst>
          </p:cNvPr>
          <p:cNvSpPr txBox="1"/>
          <p:nvPr/>
        </p:nvSpPr>
        <p:spPr>
          <a:xfrm>
            <a:off x="5040900" y="313470"/>
            <a:ext cx="3173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E76"/>
                </a:solidFill>
              </a:defRPr>
            </a:pPr>
            <a:r>
              <a:rPr lang="en-US" b="1" dirty="0"/>
              <a:t>Why is this OTT analysis needed ?</a:t>
            </a:r>
          </a:p>
        </p:txBody>
      </p:sp>
    </p:spTree>
    <p:extLst>
      <p:ext uri="{BB962C8B-B14F-4D97-AF65-F5344CB8AC3E}">
        <p14:creationId xmlns:p14="http://schemas.microsoft.com/office/powerpoint/2010/main" val="4471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7994" y="165876"/>
            <a:ext cx="558518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>
              <a:defRPr sz="2500" b="1">
                <a:solidFill>
                  <a:srgbClr val="182743"/>
                </a:solidFill>
                <a:latin typeface="Aptos Display"/>
              </a:defRPr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Business Objective wise Questions</a:t>
            </a:r>
            <a:endParaRPr kumimoji="0" sz="2500" b="1" i="0" u="none" strike="noStrike" kern="1200" cap="none" spc="0" normalizeH="0" baseline="0" noProof="0" dirty="0">
              <a:ln>
                <a:noFill/>
              </a:ln>
              <a:solidFill>
                <a:srgbClr val="182743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1978" y="753071"/>
            <a:ext cx="40580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>
                <a:solidFill>
                  <a:srgbClr val="69707A"/>
                </a:solidFill>
                <a:latin typeface="Aptos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970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There are 30 analytical questions divided in all 6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91729"/>
            <a:ext cx="5166360" cy="1462188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9926" y="1271483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2F75B5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F75B5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42692" y="1249159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182743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827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Content Performance &amp;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18" y="1574652"/>
            <a:ext cx="4876801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genres have the highest average watch duration?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genres have the highest average completion percentage?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Does viewer engagement differ between Movies and TV Shows?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Does content age affect popularity and completion percentage?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content titles have the strongest popularity and engagement indicators?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2D343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86094" y="1163786"/>
            <a:ext cx="5166360" cy="1462188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34437" y="12669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2F75B5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O2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F75B5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196" y="1271483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182743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827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Platform &amp; Content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5637" y="1555467"/>
            <a:ext cx="432201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platform has the highest number of available titles?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platform generates the highest viewing activity?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platform has the highest average completion percentage?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platform has the highest average watch duration?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genres perform best on each platform?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2D343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2842659"/>
            <a:ext cx="5166360" cy="14204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9926" y="295272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2F75B5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O3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F75B5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60221" y="2935224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182743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827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Demographic Viewing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40" y="3255264"/>
            <a:ext cx="480109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age group has the highest viewing activity?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region has the highest average engagement?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How does viewing behavior differ across gender groups?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age group has the highest average watch duration?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regions have the highest completion rates?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2D343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86094" y="2848605"/>
            <a:ext cx="5166360" cy="1414473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34437" y="29671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2F75B5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O4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F75B5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196" y="2952585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182743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827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Device &amp; Time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75628"/>
            <a:ext cx="448056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device type is used most frequently?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device has the highest average watch duration?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device has the highest average completion percentage?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time-of-day slot has the highest viewing activity?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Does viewing behavior vary across devices and time slots?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2D343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4456668"/>
            <a:ext cx="5166360" cy="14204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9305" y="454232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2F75B5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O5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F75B5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60221" y="454126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182743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827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Subscription Retention &amp; Churn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39" y="4861302"/>
            <a:ext cx="4537095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subscription type has the highest renewal rate?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subscription type has the highest churn rate?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Is engagement level associated with renewal and churn?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How do Premium and Basic users differ in retention patterns?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Is monthly subscription fee associated with renewal or churn?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2D343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92240" y="4456667"/>
            <a:ext cx="5166360" cy="1414473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34437" y="455780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2F75B5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O6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F75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F75B5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09050" y="4538739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182743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827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Ratings, Feedback &amp; Content Success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867009"/>
            <a:ext cx="4526283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content receives the highest average user rating?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Which content receives the highest number of likes?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is the distribution of Positive, Neutral and Negative feedback?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Is user rating associated with completion percentage?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 sz="1050" b="0">
                <a:solidFill>
                  <a:srgbClr val="2D343E"/>
                </a:solidFill>
                <a:latin typeface="Aptos"/>
              </a:defRPr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Does higher-rated content have a higher rewatch rate?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2D343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7994" y="6056597"/>
            <a:ext cx="10282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150">
                <a:solidFill>
                  <a:srgbClr val="69707A"/>
                </a:solidFill>
                <a:latin typeface="Aptos"/>
              </a:defRPr>
            </a:pPr>
            <a:r>
              <a:rPr lang="en-US" sz="1200" dirty="0">
                <a:solidFill>
                  <a:srgbClr val="69707A"/>
                </a:solidFill>
                <a:latin typeface="Aptos"/>
              </a:rPr>
              <a:t>* Not all 30 questions require formal hypothesis testing. Descriptive questions will be answered through Excel, SQL, Python and Power BI. Comparison</a:t>
            </a:r>
            <a:br>
              <a:rPr lang="en-US" sz="1200" dirty="0">
                <a:solidFill>
                  <a:srgbClr val="69707A"/>
                </a:solidFill>
                <a:latin typeface="Aptos"/>
              </a:rPr>
            </a:br>
            <a:r>
              <a:rPr lang="en-US" sz="1200" dirty="0">
                <a:solidFill>
                  <a:srgbClr val="69707A"/>
                </a:solidFill>
                <a:latin typeface="Aptos"/>
              </a:rPr>
              <a:t>   and relationship questions will be shortlisted for formal statistical validation. </a:t>
            </a:r>
            <a:endParaRPr sz="1200" dirty="0">
              <a:solidFill>
                <a:srgbClr val="69707A"/>
              </a:solidFill>
              <a:latin typeface="Aptos"/>
            </a:endParaRPr>
          </a:p>
        </p:txBody>
      </p: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6B7BCA08-48B5-34DC-2E83-952D94E1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0348" y="6494479"/>
            <a:ext cx="847782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3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94584"/>
            <a:ext cx="35269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743"/>
                </a:solidFill>
                <a:latin typeface="Aptos Display"/>
              </a:defRPr>
            </a:pPr>
            <a:r>
              <a:rPr sz="2800" b="1" dirty="0">
                <a:solidFill>
                  <a:srgbClr val="1827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dirty="0"/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7903" y="815876"/>
            <a:ext cx="36913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1150">
                <a:solidFill>
                  <a:srgbClr val="69707A"/>
                </a:solidFill>
                <a:latin typeface="Aptos"/>
              </a:defRPr>
            </a:pPr>
            <a:r>
              <a:rPr sz="1200" dirty="0"/>
              <a:t>Five cleaned datasets form one analytical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39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63039"/>
            <a:ext cx="64008" cy="1417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19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707A"/>
                </a:solidFill>
                <a:latin typeface="Aptos"/>
              </a:defRPr>
            </a:pPr>
            <a:r>
              <a:t>USER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743"/>
                </a:solidFill>
                <a:latin typeface="Aptos"/>
              </a:defRPr>
            </a:pPr>
            <a:r>
              <a:t>2,000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9631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707A"/>
                </a:solidFill>
                <a:latin typeface="Aptos"/>
              </a:defRPr>
            </a:pPr>
            <a:r>
              <a:t>Who are the users?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463039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1463039"/>
            <a:ext cx="64008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160019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707A"/>
                </a:solidFill>
                <a:latin typeface="Aptos"/>
              </a:defRPr>
            </a:pPr>
            <a:r>
              <a:t>CONTENT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85623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743"/>
                </a:solidFill>
                <a:latin typeface="Aptos"/>
              </a:defRPr>
            </a:pPr>
            <a:r>
              <a:t>17,797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9631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707A"/>
                </a:solidFill>
                <a:latin typeface="Aptos"/>
              </a:defRPr>
            </a:pPr>
            <a:r>
              <a:t>What content is available?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463039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66360" y="1463039"/>
            <a:ext cx="64008" cy="1417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9240" y="160019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707A"/>
                </a:solidFill>
                <a:latin typeface="Aptos"/>
              </a:defRPr>
            </a:pPr>
            <a:r>
              <a:t>VIEWING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85623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743"/>
                </a:solidFill>
                <a:latin typeface="Aptos"/>
              </a:defRPr>
            </a:pPr>
            <a:r>
              <a:t>30,000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9631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707A"/>
                </a:solidFill>
                <a:latin typeface="Aptos"/>
              </a:defRPr>
            </a:pPr>
            <a:r>
              <a:t>How do users watch?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463039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52360" y="1463039"/>
            <a:ext cx="64008" cy="1417320"/>
          </a:xfrm>
          <a:prstGeom prst="rect">
            <a:avLst/>
          </a:prstGeom>
          <a:solidFill>
            <a:srgbClr val="EF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160019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707A"/>
                </a:solidFill>
                <a:latin typeface="Aptos"/>
              </a:defRPr>
            </a:pPr>
            <a:r>
              <a:t>RATINGS &amp;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185623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743"/>
                </a:solidFill>
                <a:latin typeface="Aptos"/>
              </a:defRPr>
            </a:pPr>
            <a:r>
              <a:t>12,000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49631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707A"/>
                </a:solidFill>
                <a:latin typeface="Aptos"/>
              </a:defRPr>
            </a:pPr>
            <a:r>
              <a:t>What do viewers think?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3258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38360" y="1463039"/>
            <a:ext cx="64008" cy="1417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40" y="160019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707A"/>
                </a:solidFill>
                <a:latin typeface="Aptos"/>
              </a:defRPr>
            </a:pPr>
            <a:r>
              <a:t>SUBSCRIPTION &amp; RETENTION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185623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743"/>
                </a:solidFill>
                <a:latin typeface="Aptos"/>
              </a:defRPr>
            </a:pPr>
            <a:r>
              <a:t>2,000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49631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707A"/>
                </a:solidFill>
                <a:latin typeface="Aptos"/>
              </a:defRPr>
            </a:pPr>
            <a:r>
              <a:t>Who renews or churns?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EFBFDFEF-08DB-C046-B1F9-FCCF6D35A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523146"/>
              </p:ext>
            </p:extLst>
          </p:nvPr>
        </p:nvGraphicFramePr>
        <p:xfrm>
          <a:off x="1086710" y="3113364"/>
          <a:ext cx="10379866" cy="3001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493">
                  <a:extLst>
                    <a:ext uri="{9D8B030D-6E8A-4147-A177-3AD203B41FA5}">
                      <a16:colId xmlns:a16="http://schemas.microsoft.com/office/drawing/2014/main" val="2190756695"/>
                    </a:ext>
                  </a:extLst>
                </a:gridCol>
                <a:gridCol w="4489726">
                  <a:extLst>
                    <a:ext uri="{9D8B030D-6E8A-4147-A177-3AD203B41FA5}">
                      <a16:colId xmlns:a16="http://schemas.microsoft.com/office/drawing/2014/main" val="2072825056"/>
                    </a:ext>
                  </a:extLst>
                </a:gridCol>
                <a:gridCol w="3959647">
                  <a:extLst>
                    <a:ext uri="{9D8B030D-6E8A-4147-A177-3AD203B41FA5}">
                      <a16:colId xmlns:a16="http://schemas.microsoft.com/office/drawing/2014/main" val="3238464927"/>
                    </a:ext>
                  </a:extLst>
                </a:gridCol>
              </a:tblGrid>
              <a:tr h="3820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Dataset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Key Variables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Business Purpose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34303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👤 User Profile</a:t>
                      </a:r>
                      <a:endParaRPr lang="en-IN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User_ID, Age, Gender, Region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Understand customer demographics and audience segments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9482577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🎬 Content Library</a:t>
                      </a:r>
                      <a:endParaRPr lang="en-IN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Content_Key, Genre, Type, Duration, Release Year, Popularity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Analyse content portfolio and content performance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851579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▶️ Viewing Sessions</a:t>
                      </a:r>
                      <a:endParaRPr lang="en-IN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User_ID, Content_Key, Watch Duration, Completion %, Device, Time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Analyse viewing behaviour and engagement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515851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⭐ Ratings &amp; Feedback</a:t>
                      </a:r>
                      <a:endParaRPr lang="en-IN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User_ID, Content_Key, Rating, Likes, Feedback, Rewatch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Measure user response and content satisfaction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400244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💳 Subscription &amp; Retention</a:t>
                      </a:r>
                      <a:endParaRPr lang="en-IN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User_ID, Plan Type, Monthly Fee, Renewal, Churn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Analyse customer retention, renewal and churn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517757"/>
                  </a:ext>
                </a:extLst>
              </a:tr>
            </a:tbl>
          </a:graphicData>
        </a:graphic>
      </p:graphicFrame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62F71828-3E14-4320-3C44-8EFE62B5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316" y="6489082"/>
            <a:ext cx="528484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5C73-96D0-6EEC-14C2-F21DC70F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108D-C33D-5BE4-5F2F-A1AF144AE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57" y="180232"/>
            <a:ext cx="10157251" cy="84281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0D62-25A1-6C14-DB8F-0F542369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320" y="6474334"/>
            <a:ext cx="504480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7F916-22BC-80FC-7D73-7F5CAEE92C8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68657" y="1392273"/>
            <a:ext cx="10380663" cy="3262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dirty="0"/>
              <a:t>Excel — PivotTables, formulas, descriptive statistics and initial business visuals.</a:t>
            </a:r>
          </a:p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dirty="0"/>
              <a:t>Python — EDA, distributions, group comparisons, correlations, hypothesis testing and ML.</a:t>
            </a:r>
          </a:p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dirty="0"/>
              <a:t>SQL — joins, aggregations, CASE, CTEs, window functions, summary tables and reporting views.</a:t>
            </a:r>
          </a:p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dirty="0"/>
              <a:t>Power BI — interactive KPI dashboards and decision-support exploration.</a:t>
            </a:r>
          </a:p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dirty="0"/>
              <a:t>Statistics — validate important observed differences and relationships.</a:t>
            </a:r>
          </a:p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dirty="0"/>
              <a:t>Machine Learning — feature selection and Simple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219744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65B2F-7BAD-71F4-3E52-7C4153A0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F37D-0D2B-04A4-B514-7C4D18DC2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713" y="169966"/>
            <a:ext cx="10380662" cy="84281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Data Cleaning &amp; Fixes Applied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C9D7B-28D2-1AE8-6C52-31A52C4E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2580" y="6474334"/>
            <a:ext cx="661219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2B0FC-7C6C-5774-D94B-95B420932E11}"/>
              </a:ext>
            </a:extLst>
          </p:cNvPr>
          <p:cNvSpPr txBox="1"/>
          <p:nvPr/>
        </p:nvSpPr>
        <p:spPr>
          <a:xfrm>
            <a:off x="677421" y="11136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6"/>
                </a:solidFill>
              </a:defRPr>
            </a:pPr>
            <a:r>
              <a:rPr dirty="0"/>
              <a:t>Domain-based preparation before 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F8EAD6-DCEC-4093-BF65-E14BC0A407D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5801" y="1946121"/>
            <a:ext cx="10380662" cy="261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62D34"/>
                </a:solidFill>
              </a:defRPr>
            </a:pPr>
            <a:r>
              <a:rPr dirty="0"/>
              <a:t>Checked missing values, duplicates, data types, identifiers and categorical consistency.</a:t>
            </a:r>
          </a:p>
          <a:p>
            <a:pPr>
              <a:spcAft>
                <a:spcPts val="1000"/>
              </a:spcAft>
              <a:defRPr sz="1800" b="0">
                <a:solidFill>
                  <a:srgbClr val="262D34"/>
                </a:solidFill>
              </a:defRPr>
            </a:pPr>
            <a:r>
              <a:rPr dirty="0"/>
              <a:t>Validated </a:t>
            </a:r>
            <a:r>
              <a:rPr dirty="0" err="1"/>
              <a:t>Completion_Percentage</a:t>
            </a:r>
            <a:r>
              <a:rPr dirty="0"/>
              <a:t> within the 0–100 business range.</a:t>
            </a:r>
          </a:p>
          <a:p>
            <a:pPr>
              <a:spcAft>
                <a:spcPts val="1000"/>
              </a:spcAft>
              <a:defRPr sz="1800" b="0">
                <a:solidFill>
                  <a:srgbClr val="262D34"/>
                </a:solidFill>
              </a:defRPr>
            </a:pPr>
            <a:r>
              <a:rPr dirty="0"/>
              <a:t>Checked watch duration and paused-times for invalid values.</a:t>
            </a:r>
          </a:p>
          <a:p>
            <a:pPr>
              <a:spcAft>
                <a:spcPts val="1000"/>
              </a:spcAft>
              <a:defRPr sz="1800" b="0">
                <a:solidFill>
                  <a:srgbClr val="262D34"/>
                </a:solidFill>
              </a:defRPr>
            </a:pPr>
            <a:r>
              <a:rPr dirty="0"/>
              <a:t>Viewing-duration outliers were investigated and retained where they were plausible behavior rather than automatically deleted.</a:t>
            </a:r>
          </a:p>
          <a:p>
            <a:pPr>
              <a:spcAft>
                <a:spcPts val="1000"/>
              </a:spcAft>
              <a:defRPr sz="1800" b="0">
                <a:solidFill>
                  <a:srgbClr val="262D34"/>
                </a:solidFill>
              </a:defRPr>
            </a:pPr>
            <a:r>
              <a:rPr dirty="0"/>
              <a:t>Standardized content keys and category values for consistent joins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645448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2A18-1FCC-18E5-37DE-5318D65D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50" y="136525"/>
            <a:ext cx="10515600" cy="903236"/>
          </a:xfrm>
        </p:spPr>
        <p:txBody>
          <a:bodyPr/>
          <a:lstStyle/>
          <a:p>
            <a:r>
              <a:rPr lang="en-IN" dirty="0"/>
              <a:t>Tools and Techniques Used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A853124-5898-CB83-CCB1-E1033F6DF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948" y="1350449"/>
            <a:ext cx="5646248" cy="38974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39A3B-4FC0-B67F-27C9-E814CBCD0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1574" y="6474334"/>
            <a:ext cx="602226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7</a:t>
            </a:fld>
            <a:endParaRPr lang="en-US"/>
          </a:p>
        </p:txBody>
      </p:sp>
      <p:pic>
        <p:nvPicPr>
          <p:cNvPr id="28" name="Content Placeholder 8">
            <a:extLst>
              <a:ext uri="{FF2B5EF4-FFF2-40B4-BE49-F238E27FC236}">
                <a16:creationId xmlns:a16="http://schemas.microsoft.com/office/drawing/2014/main" id="{AB1B259C-9288-A1FD-DCFA-8A2DF9512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871" y="1350449"/>
            <a:ext cx="5646248" cy="389741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8E4F344-E108-34B8-C224-375F30DA6F6E}"/>
              </a:ext>
            </a:extLst>
          </p:cNvPr>
          <p:cNvSpPr txBox="1"/>
          <p:nvPr/>
        </p:nvSpPr>
        <p:spPr>
          <a:xfrm>
            <a:off x="981323" y="1764998"/>
            <a:ext cx="1833438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TOOLS</a:t>
            </a:r>
          </a:p>
          <a:p>
            <a:pPr>
              <a:buNone/>
            </a:pPr>
            <a:r>
              <a:rPr lang="en-IN" sz="1400" dirty="0"/>
              <a:t>🟢 </a:t>
            </a:r>
            <a:r>
              <a:rPr lang="en-IN" sz="1400" b="1" dirty="0"/>
              <a:t>Microsoft Excel</a:t>
            </a:r>
            <a:br>
              <a:rPr lang="en-IN" sz="1400" dirty="0"/>
            </a:br>
            <a:r>
              <a:rPr lang="en-IN" sz="1400" dirty="0"/>
              <a:t>• Data cleaning &amp; validation</a:t>
            </a:r>
            <a:br>
              <a:rPr lang="en-IN" sz="1400" dirty="0"/>
            </a:br>
            <a:r>
              <a:rPr lang="en-IN" sz="1400" dirty="0"/>
              <a:t>• Descriptive analysis</a:t>
            </a:r>
            <a:br>
              <a:rPr lang="en-IN" sz="1400" dirty="0"/>
            </a:br>
            <a:r>
              <a:rPr lang="en-IN" sz="1400" dirty="0"/>
              <a:t>• Initial business analysis</a:t>
            </a:r>
          </a:p>
          <a:p>
            <a:pPr>
              <a:buNone/>
            </a:pPr>
            <a:r>
              <a:rPr lang="en-IN" sz="1400" dirty="0"/>
              <a:t>🔵 </a:t>
            </a:r>
            <a:r>
              <a:rPr lang="en-IN" sz="1400" b="1" dirty="0"/>
              <a:t>Python</a:t>
            </a:r>
            <a:br>
              <a:rPr lang="en-IN" sz="1400" dirty="0"/>
            </a:br>
            <a:r>
              <a:rPr lang="en-IN" sz="1400" dirty="0"/>
              <a:t>• Exploratory Data Analysis (EDA)</a:t>
            </a:r>
            <a:br>
              <a:rPr lang="en-IN" sz="1400" dirty="0"/>
            </a:br>
            <a:r>
              <a:rPr lang="en-IN" sz="1400" dirty="0"/>
              <a:t>• Statistical analysis</a:t>
            </a:r>
            <a:br>
              <a:rPr lang="en-IN" sz="1400" dirty="0"/>
            </a:br>
            <a:r>
              <a:rPr lang="en-IN" sz="1400" dirty="0"/>
              <a:t>• Data visualization</a:t>
            </a:r>
            <a:br>
              <a:rPr lang="en-IN" sz="1400" dirty="0"/>
            </a:br>
            <a:r>
              <a:rPr lang="en-IN" sz="1400" dirty="0"/>
              <a:t>• Machine Learning</a:t>
            </a:r>
          </a:p>
          <a:p>
            <a:pPr>
              <a:buNone/>
            </a:pPr>
            <a:endParaRPr lang="en-IN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997AFF-3CC4-60A5-872D-5968170E9C53}"/>
              </a:ext>
            </a:extLst>
          </p:cNvPr>
          <p:cNvSpPr txBox="1"/>
          <p:nvPr/>
        </p:nvSpPr>
        <p:spPr>
          <a:xfrm>
            <a:off x="3406072" y="2041997"/>
            <a:ext cx="255740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/>
              <a:t>🟠 </a:t>
            </a:r>
            <a:r>
              <a:rPr lang="en-IN" sz="1400" b="1" dirty="0"/>
              <a:t>SQL</a:t>
            </a:r>
            <a:br>
              <a:rPr lang="en-IN" sz="1400" dirty="0"/>
            </a:br>
            <a:r>
              <a:rPr lang="en-IN" sz="1400" dirty="0"/>
              <a:t>• Data querying</a:t>
            </a:r>
            <a:br>
              <a:rPr lang="en-IN" sz="1400" dirty="0"/>
            </a:br>
            <a:r>
              <a:rPr lang="en-IN" sz="1400" dirty="0"/>
              <a:t>• Joins &amp; aggregations</a:t>
            </a:r>
            <a:br>
              <a:rPr lang="en-IN" sz="1400" dirty="0"/>
            </a:br>
            <a:r>
              <a:rPr lang="en-IN" sz="1400" dirty="0"/>
              <a:t>• Business-question analysis</a:t>
            </a:r>
          </a:p>
          <a:p>
            <a:pPr>
              <a:buNone/>
            </a:pPr>
            <a:r>
              <a:rPr lang="en-IN" sz="1400" dirty="0"/>
              <a:t>🟣 </a:t>
            </a:r>
            <a:r>
              <a:rPr lang="en-IN" sz="1400" b="1" dirty="0"/>
              <a:t>Power BI</a:t>
            </a:r>
            <a:br>
              <a:rPr lang="en-IN" sz="1400" dirty="0"/>
            </a:br>
            <a:r>
              <a:rPr lang="en-IN" sz="1400" dirty="0"/>
              <a:t>• Interactive dashboard</a:t>
            </a:r>
            <a:br>
              <a:rPr lang="en-IN" sz="1400" dirty="0"/>
            </a:br>
            <a:r>
              <a:rPr lang="en-IN" sz="1400" dirty="0"/>
              <a:t>• KPI development</a:t>
            </a:r>
            <a:br>
              <a:rPr lang="en-IN" sz="1400" dirty="0"/>
            </a:br>
            <a:r>
              <a:rPr lang="en-IN" sz="1400" dirty="0"/>
              <a:t>• Slicers &amp; filtering</a:t>
            </a:r>
            <a:br>
              <a:rPr lang="en-IN" sz="1400" dirty="0"/>
            </a:br>
            <a:r>
              <a:rPr lang="en-IN" sz="1400" dirty="0"/>
              <a:t>• Data visualization</a:t>
            </a:r>
          </a:p>
          <a:p>
            <a:pPr>
              <a:buNone/>
            </a:pPr>
            <a:r>
              <a:rPr lang="en-IN" sz="1400" dirty="0"/>
              <a:t>⚫ </a:t>
            </a:r>
            <a:r>
              <a:rPr lang="en-IN" sz="1400" b="1" dirty="0"/>
              <a:t>Git / GitHub</a:t>
            </a:r>
            <a:br>
              <a:rPr lang="en-IN" sz="1400" dirty="0"/>
            </a:br>
            <a:r>
              <a:rPr lang="en-IN" sz="1400" dirty="0"/>
              <a:t>• Version control</a:t>
            </a:r>
            <a:br>
              <a:rPr lang="en-IN" sz="1400" dirty="0"/>
            </a:br>
            <a:r>
              <a:rPr lang="en-IN" sz="1400" dirty="0"/>
              <a:t>• Project &amp; code management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3D18C4-3311-A89C-3DCA-E11FBD696E9E}"/>
              </a:ext>
            </a:extLst>
          </p:cNvPr>
          <p:cNvSpPr txBox="1"/>
          <p:nvPr/>
        </p:nvSpPr>
        <p:spPr>
          <a:xfrm>
            <a:off x="6627571" y="1683327"/>
            <a:ext cx="538303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ANALYTICAL TECHNIQUES</a:t>
            </a:r>
          </a:p>
          <a:p>
            <a:pPr>
              <a:buNone/>
            </a:pPr>
            <a:r>
              <a:rPr lang="en-IN" b="1" dirty="0"/>
              <a:t>EDA</a:t>
            </a:r>
            <a:r>
              <a:rPr lang="en-IN" dirty="0"/>
              <a:t> | </a:t>
            </a:r>
            <a:r>
              <a:rPr lang="en-IN" b="1" dirty="0"/>
              <a:t>Descriptive Statistics</a:t>
            </a:r>
            <a:r>
              <a:rPr lang="en-IN" dirty="0"/>
              <a:t> | </a:t>
            </a:r>
            <a:r>
              <a:rPr lang="en-IN" b="1" dirty="0"/>
              <a:t>Hypothesis Testing</a:t>
            </a:r>
            <a:endParaRPr lang="en-IN" dirty="0"/>
          </a:p>
          <a:p>
            <a:pPr>
              <a:buNone/>
            </a:pPr>
            <a:r>
              <a:rPr lang="en-IN" sz="1400" b="1" dirty="0"/>
              <a:t>Welch Independent t-test</a:t>
            </a:r>
            <a:br>
              <a:rPr lang="en-IN" sz="1400" dirty="0"/>
            </a:br>
            <a:r>
              <a:rPr lang="en-IN" sz="1400" dirty="0"/>
              <a:t>Movie vs TV Show Completion</a:t>
            </a:r>
          </a:p>
          <a:p>
            <a:pPr>
              <a:buNone/>
            </a:pPr>
            <a:r>
              <a:rPr lang="en-IN" sz="1400" b="1" dirty="0"/>
              <a:t>Two-Proportion Z-test</a:t>
            </a:r>
            <a:br>
              <a:rPr lang="en-IN" sz="1400" dirty="0"/>
            </a:br>
            <a:r>
              <a:rPr lang="en-IN" sz="1400" dirty="0"/>
              <a:t>Free Trial vs Paid Churn</a:t>
            </a:r>
          </a:p>
          <a:p>
            <a:pPr>
              <a:buNone/>
            </a:pPr>
            <a:r>
              <a:rPr lang="en-IN" sz="1400" b="1" dirty="0"/>
              <a:t>Chi-square Test</a:t>
            </a:r>
            <a:br>
              <a:rPr lang="en-IN" sz="1400" dirty="0"/>
            </a:br>
            <a:r>
              <a:rPr lang="en-IN" sz="1400" dirty="0"/>
              <a:t>Engagement Level vs Churn</a:t>
            </a:r>
          </a:p>
          <a:p>
            <a:pPr>
              <a:buNone/>
            </a:pPr>
            <a:r>
              <a:rPr lang="en-IN" sz="1400" b="1" dirty="0"/>
              <a:t>Pearson Correlation</a:t>
            </a:r>
            <a:br>
              <a:rPr lang="en-IN" sz="1400" dirty="0"/>
            </a:br>
            <a:r>
              <a:rPr lang="en-IN" sz="1400" dirty="0"/>
              <a:t>Rating vs Completion &amp; Rewatch</a:t>
            </a:r>
          </a:p>
          <a:p>
            <a:pPr>
              <a:buNone/>
            </a:pPr>
            <a:r>
              <a:rPr lang="en-IN" sz="1400" b="1" dirty="0"/>
              <a:t>Feature Selection — </a:t>
            </a:r>
            <a:r>
              <a:rPr lang="en-IN" sz="1400" b="1" dirty="0" err="1"/>
              <a:t>SelectKBest</a:t>
            </a:r>
            <a:br>
              <a:rPr lang="en-IN" sz="1400" dirty="0"/>
            </a:br>
            <a:r>
              <a:rPr lang="en-IN" sz="1400" dirty="0"/>
              <a:t>Identify the strongest predictor</a:t>
            </a:r>
          </a:p>
          <a:p>
            <a:pPr>
              <a:buNone/>
            </a:pPr>
            <a:r>
              <a:rPr lang="en-IN" sz="1400" b="1" dirty="0"/>
              <a:t>Simple Linear Regression</a:t>
            </a:r>
            <a:br>
              <a:rPr lang="en-IN" sz="1400" dirty="0"/>
            </a:br>
            <a:r>
              <a:rPr lang="en-IN" sz="1400" dirty="0"/>
              <a:t>Predict Watch Duration from Content Duration</a:t>
            </a:r>
          </a:p>
        </p:txBody>
      </p:sp>
    </p:spTree>
    <p:extLst>
      <p:ext uri="{BB962C8B-B14F-4D97-AF65-F5344CB8AC3E}">
        <p14:creationId xmlns:p14="http://schemas.microsoft.com/office/powerpoint/2010/main" val="184476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14F45-9C7B-B1B1-3946-C7225FE0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1E31-6970-203E-CE25-5BB2564F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0209"/>
            <a:ext cx="10515600" cy="1006475"/>
          </a:xfrm>
        </p:spPr>
        <p:txBody>
          <a:bodyPr/>
          <a:lstStyle/>
          <a:p>
            <a:r>
              <a:rPr lang="en-IN" dirty="0"/>
              <a:t>Possible Analysis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75E36DC-CDF5-7F9A-AE74-2D22D5527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0426711"/>
              </p:ext>
            </p:extLst>
          </p:nvPr>
        </p:nvGraphicFramePr>
        <p:xfrm>
          <a:off x="838200" y="1253676"/>
          <a:ext cx="10515600" cy="4493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861">
                  <a:extLst>
                    <a:ext uri="{9D8B030D-6E8A-4147-A177-3AD203B41FA5}">
                      <a16:colId xmlns:a16="http://schemas.microsoft.com/office/drawing/2014/main" val="2064579159"/>
                    </a:ext>
                  </a:extLst>
                </a:gridCol>
                <a:gridCol w="7934739">
                  <a:extLst>
                    <a:ext uri="{9D8B030D-6E8A-4147-A177-3AD203B41FA5}">
                      <a16:colId xmlns:a16="http://schemas.microsoft.com/office/drawing/2014/main" val="1979842570"/>
                    </a:ext>
                  </a:extLst>
                </a:gridCol>
              </a:tblGrid>
              <a:tr h="641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Analysis Type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What Can Be Analysed?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539475"/>
                  </a:ext>
                </a:extLst>
              </a:tr>
              <a:tr h="641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Descriptive Analysis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Overall users, content, sessions, watch duration, completion, ratings and 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6194088"/>
                  </a:ext>
                </a:extLst>
              </a:tr>
              <a:tr h="641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Univariate Analysis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Distribution of age groups, ratings, completion, watch duration and subscription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192894"/>
                  </a:ext>
                </a:extLst>
              </a:tr>
              <a:tr h="641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Bivariate Analysis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Movie vs TV completion, rating vs popularity, device vs watch duration, subscription vs 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267811"/>
                  </a:ext>
                </a:extLst>
              </a:tr>
              <a:tr h="641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Multivariate Analysis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Region × Age × Engagement, Device × Content Type × Completion, Platform × Content Type ×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510198"/>
                  </a:ext>
                </a:extLst>
              </a:tr>
              <a:tr h="641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Statistical Analysis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Validate differences and relationships using t-test, Z-test, Chi-square and Pearson correlation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028123"/>
                  </a:ext>
                </a:extLst>
              </a:tr>
              <a:tr h="641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Predictive Analysis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Identify important predictors and predict watch duration using feature selection and linear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99256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075F3-D2E5-9602-E66E-2D665E60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7544" y="6267600"/>
            <a:ext cx="779206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24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E5DE-3CB3-2427-4375-33C926DBE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2535-55A6-E286-7370-C6242ACA1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25" y="136525"/>
            <a:ext cx="8253210" cy="1058095"/>
          </a:xfrm>
        </p:spPr>
        <p:txBody>
          <a:bodyPr/>
          <a:lstStyle/>
          <a:p>
            <a:r>
              <a:rPr lang="en-IN" dirty="0"/>
              <a:t>Hypotheses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9AA86-1728-94BE-DF0E-55964E5F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1574" y="6474334"/>
            <a:ext cx="602226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416072-4172-6929-42A5-5A7474D9612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66325" y="2005012"/>
            <a:ext cx="10515600" cy="2955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2D34"/>
                </a:solidFill>
              </a:defRPr>
            </a:pPr>
            <a:r>
              <a:rPr dirty="0"/>
              <a:t>H1: Movie and TV Show completion rates differ.</a:t>
            </a:r>
          </a:p>
          <a:p>
            <a:pPr>
              <a:spcAft>
                <a:spcPts val="1000"/>
              </a:spcAft>
              <a:defRPr sz="1900" b="0">
                <a:solidFill>
                  <a:srgbClr val="262D34"/>
                </a:solidFill>
              </a:defRPr>
            </a:pPr>
            <a:r>
              <a:rPr dirty="0"/>
              <a:t>H2: Content age/release year has a linear relationship with completion.</a:t>
            </a:r>
          </a:p>
          <a:p>
            <a:pPr>
              <a:spcAft>
                <a:spcPts val="1000"/>
              </a:spcAft>
              <a:defRPr sz="1900" b="0">
                <a:solidFill>
                  <a:srgbClr val="262D34"/>
                </a:solidFill>
              </a:defRPr>
            </a:pPr>
            <a:r>
              <a:rPr dirty="0"/>
              <a:t>H3: Engagement level and churn are associated.</a:t>
            </a:r>
          </a:p>
          <a:p>
            <a:pPr>
              <a:spcAft>
                <a:spcPts val="1000"/>
              </a:spcAft>
              <a:defRPr sz="1900" b="0">
                <a:solidFill>
                  <a:srgbClr val="262D34"/>
                </a:solidFill>
              </a:defRPr>
            </a:pPr>
            <a:r>
              <a:rPr dirty="0"/>
              <a:t>H4: Free Trial and Paid churn rates differ.</a:t>
            </a:r>
          </a:p>
          <a:p>
            <a:pPr>
              <a:spcAft>
                <a:spcPts val="1000"/>
              </a:spcAft>
              <a:defRPr sz="1900" b="0">
                <a:solidFill>
                  <a:srgbClr val="262D34"/>
                </a:solidFill>
              </a:defRPr>
            </a:pPr>
            <a:r>
              <a:rPr dirty="0"/>
              <a:t>H5: Rating has a linear relationship with completion.</a:t>
            </a:r>
          </a:p>
          <a:p>
            <a:pPr>
              <a:spcAft>
                <a:spcPts val="1000"/>
              </a:spcAft>
              <a:defRPr sz="1900" b="0">
                <a:solidFill>
                  <a:srgbClr val="262D34"/>
                </a:solidFill>
              </a:defRPr>
            </a:pPr>
            <a:r>
              <a:rPr dirty="0"/>
              <a:t>H6: Rating has a linear relationship with rewatch behavior.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333F5-05ED-7659-71DE-12C01DEB0104}"/>
              </a:ext>
            </a:extLst>
          </p:cNvPr>
          <p:cNvSpPr txBox="1"/>
          <p:nvPr/>
        </p:nvSpPr>
        <p:spPr>
          <a:xfrm>
            <a:off x="566325" y="1318127"/>
            <a:ext cx="70585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E76"/>
                </a:solidFill>
              </a:defRPr>
            </a:pPr>
            <a:r>
              <a:rPr dirty="0"/>
              <a:t>Six hypotheses tested at α = 0.05</a:t>
            </a:r>
          </a:p>
        </p:txBody>
      </p:sp>
    </p:spTree>
    <p:extLst>
      <p:ext uri="{BB962C8B-B14F-4D97-AF65-F5344CB8AC3E}">
        <p14:creationId xmlns:p14="http://schemas.microsoft.com/office/powerpoint/2010/main" val="190088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F3D4-AE02-815D-0F23-D64A5123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EEC4-E451-329F-F937-A9E8E0348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925" y="18255"/>
            <a:ext cx="10515600" cy="1117371"/>
          </a:xfrm>
        </p:spPr>
        <p:txBody>
          <a:bodyPr/>
          <a:lstStyle/>
          <a:p>
            <a:r>
              <a:rPr lang="en-IN" dirty="0"/>
              <a:t>KPIs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387F5-EFD3-8D60-B380-FE52C996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3806" y="6489082"/>
            <a:ext cx="439994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2D042BF8-F661-4B15-8B3B-02F874D99EAE}"/>
              </a:ext>
            </a:extLst>
          </p:cNvPr>
          <p:cNvSpPr/>
          <p:nvPr/>
        </p:nvSpPr>
        <p:spPr>
          <a:xfrm>
            <a:off x="7771" y="30754"/>
            <a:ext cx="12191695" cy="713232"/>
          </a:xfrm>
          <a:prstGeom prst="roundRect">
            <a:avLst/>
          </a:prstGeom>
          <a:solidFill>
            <a:srgbClr val="12305B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BBFE90-F444-2E4F-7626-BC5B8B0F2D83}"/>
              </a:ext>
            </a:extLst>
          </p:cNvPr>
          <p:cNvSpPr txBox="1"/>
          <p:nvPr/>
        </p:nvSpPr>
        <p:spPr>
          <a:xfrm>
            <a:off x="411480" y="914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KPIs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7ABCE6-E8AB-6EF2-AD35-A90E8629AF3C}"/>
              </a:ext>
            </a:extLst>
          </p:cNvPr>
          <p:cNvSpPr txBox="1"/>
          <p:nvPr/>
        </p:nvSpPr>
        <p:spPr>
          <a:xfrm>
            <a:off x="411480" y="393192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KEY PERFORMANCE INDICATORS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0820CB-1F77-7761-3805-BA8207BB4023}"/>
              </a:ext>
            </a:extLst>
          </p:cNvPr>
          <p:cNvSpPr txBox="1"/>
          <p:nvPr/>
        </p:nvSpPr>
        <p:spPr>
          <a:xfrm>
            <a:off x="8229600" y="164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OTT PLATFORM BUSINESS ANALYTICS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190EAD-0911-917F-85F7-57713A23D488}"/>
              </a:ext>
            </a:extLst>
          </p:cNvPr>
          <p:cNvSpPr txBox="1"/>
          <p:nvPr/>
        </p:nvSpPr>
        <p:spPr>
          <a:xfrm>
            <a:off x="8229600" y="384048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CDDCF0"/>
                </a:solidFill>
                <a:latin typeface="Aptos"/>
              </a:rPr>
              <a:t>MEASURE  |  ANALYSE  |  OPTIMISE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5C94076F-3577-19A5-B78F-8996DF1E9C42}"/>
              </a:ext>
            </a:extLst>
          </p:cNvPr>
          <p:cNvSpPr/>
          <p:nvPr/>
        </p:nvSpPr>
        <p:spPr>
          <a:xfrm>
            <a:off x="256032" y="841248"/>
            <a:ext cx="11676888" cy="1664208"/>
          </a:xfrm>
          <a:prstGeom prst="roundRect">
            <a:avLst/>
          </a:prstGeom>
          <a:solidFill>
            <a:srgbClr val="EBF4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D49C10-CC6D-2042-A78A-ABDAC02067E1}"/>
              </a:ext>
            </a:extLst>
          </p:cNvPr>
          <p:cNvSpPr txBox="1"/>
          <p:nvPr/>
        </p:nvSpPr>
        <p:spPr>
          <a:xfrm>
            <a:off x="438912" y="9326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1. CUSTOMER &amp; RETENTION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F359CC-C810-8EF8-B0B3-3B4F5F44A742}"/>
              </a:ext>
            </a:extLst>
          </p:cNvPr>
          <p:cNvSpPr txBox="1"/>
          <p:nvPr/>
        </p:nvSpPr>
        <p:spPr>
          <a:xfrm>
            <a:off x="6400800" y="95097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563EB"/>
                </a:solidFill>
                <a:latin typeface="Aptos"/>
              </a:rPr>
              <a:t>Measures the user base and subscription health of the platform.</a:t>
            </a:r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6E30E2C7-FD5E-8FE1-8EA9-4B357A4E3175}"/>
              </a:ext>
            </a:extLst>
          </p:cNvPr>
          <p:cNvSpPr/>
          <p:nvPr/>
        </p:nvSpPr>
        <p:spPr>
          <a:xfrm>
            <a:off x="411480" y="1207008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3A17A2-1E05-1BEA-42C4-4177153C5D20}"/>
              </a:ext>
            </a:extLst>
          </p:cNvPr>
          <p:cNvSpPr txBox="1"/>
          <p:nvPr/>
        </p:nvSpPr>
        <p:spPr>
          <a:xfrm>
            <a:off x="548640" y="12984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05B"/>
                </a:solidFill>
                <a:latin typeface="Aptos"/>
              </a:rPr>
              <a:t>Total Users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DF3705-3AD3-2845-4039-8BC248992FB1}"/>
              </a:ext>
            </a:extLst>
          </p:cNvPr>
          <p:cNvSpPr txBox="1"/>
          <p:nvPr/>
        </p:nvSpPr>
        <p:spPr>
          <a:xfrm>
            <a:off x="629775" y="1529118"/>
            <a:ext cx="13060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563EB"/>
                </a:solidFill>
                <a:latin typeface="Aptos"/>
              </a:rPr>
              <a:t>2,000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C18112-0F61-1AF0-B927-1E808613EA29}"/>
              </a:ext>
            </a:extLst>
          </p:cNvPr>
          <p:cNvSpPr txBox="1"/>
          <p:nvPr/>
        </p:nvSpPr>
        <p:spPr>
          <a:xfrm>
            <a:off x="538089" y="2007108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2305B"/>
                </a:solidFill>
                <a:latin typeface="Aptos"/>
              </a:rPr>
              <a:t>MEANING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404122-51C7-769F-9D32-1DAF2EB3478F}"/>
              </a:ext>
            </a:extLst>
          </p:cNvPr>
          <p:cNvSpPr txBox="1"/>
          <p:nvPr/>
        </p:nvSpPr>
        <p:spPr>
          <a:xfrm>
            <a:off x="498348" y="214231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142337"/>
                </a:solidFill>
                <a:latin typeface="Aptos"/>
              </a:rPr>
              <a:t>Total unique users on the platform.</a:t>
            </a:r>
          </a:p>
        </p:txBody>
      </p:sp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FC024743-69F8-5F50-ADB4-C5EB310428F3}"/>
              </a:ext>
            </a:extLst>
          </p:cNvPr>
          <p:cNvSpPr/>
          <p:nvPr/>
        </p:nvSpPr>
        <p:spPr>
          <a:xfrm>
            <a:off x="4261104" y="1207008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FF0771-EC88-D0D9-6088-AB38F57D06BD}"/>
              </a:ext>
            </a:extLst>
          </p:cNvPr>
          <p:cNvSpPr txBox="1"/>
          <p:nvPr/>
        </p:nvSpPr>
        <p:spPr>
          <a:xfrm>
            <a:off x="4398264" y="12984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05B"/>
                </a:solidFill>
                <a:latin typeface="Aptos"/>
              </a:rPr>
              <a:t>Renewal Rate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6327DD-5768-F04B-44CC-4F066588B43E}"/>
              </a:ext>
            </a:extLst>
          </p:cNvPr>
          <p:cNvSpPr txBox="1"/>
          <p:nvPr/>
        </p:nvSpPr>
        <p:spPr>
          <a:xfrm>
            <a:off x="4494276" y="1510563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109164"/>
                </a:solidFill>
                <a:latin typeface="Aptos"/>
              </a:rPr>
              <a:t>55.60%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C8A612-0EC1-A2E1-9C23-0D728CF1FED8}"/>
              </a:ext>
            </a:extLst>
          </p:cNvPr>
          <p:cNvSpPr txBox="1"/>
          <p:nvPr/>
        </p:nvSpPr>
        <p:spPr>
          <a:xfrm>
            <a:off x="4398264" y="2007108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dirty="0">
                <a:solidFill>
                  <a:srgbClr val="12305B"/>
                </a:solidFill>
                <a:latin typeface="Aptos"/>
              </a:rPr>
              <a:t>MEANING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E64DF6-89FB-43E9-49A2-E39FF1E40E18}"/>
              </a:ext>
            </a:extLst>
          </p:cNvPr>
          <p:cNvSpPr txBox="1"/>
          <p:nvPr/>
        </p:nvSpPr>
        <p:spPr>
          <a:xfrm>
            <a:off x="4373118" y="212062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142337"/>
                </a:solidFill>
                <a:latin typeface="Aptos"/>
              </a:rPr>
              <a:t>Percentage of users who renew.</a:t>
            </a:r>
          </a:p>
        </p:txBody>
      </p:sp>
      <p:sp>
        <p:nvSpPr>
          <p:cNvPr id="51" name="Rounded Rectangle 23">
            <a:extLst>
              <a:ext uri="{FF2B5EF4-FFF2-40B4-BE49-F238E27FC236}">
                <a16:creationId xmlns:a16="http://schemas.microsoft.com/office/drawing/2014/main" id="{538DF282-8A28-404F-26A9-C9D5AE203B6E}"/>
              </a:ext>
            </a:extLst>
          </p:cNvPr>
          <p:cNvSpPr/>
          <p:nvPr/>
        </p:nvSpPr>
        <p:spPr>
          <a:xfrm>
            <a:off x="8110727" y="1207008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B45A33-D688-D68E-0220-C52D0D8CB3F5}"/>
              </a:ext>
            </a:extLst>
          </p:cNvPr>
          <p:cNvSpPr txBox="1"/>
          <p:nvPr/>
        </p:nvSpPr>
        <p:spPr>
          <a:xfrm>
            <a:off x="8247888" y="12984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05B"/>
                </a:solidFill>
                <a:latin typeface="Aptos"/>
              </a:rPr>
              <a:t>Churn Rate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1C1F44-745D-DAFA-6162-63D59EAC0E93}"/>
              </a:ext>
            </a:extLst>
          </p:cNvPr>
          <p:cNvSpPr txBox="1"/>
          <p:nvPr/>
        </p:nvSpPr>
        <p:spPr>
          <a:xfrm>
            <a:off x="8302752" y="146304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DC2626"/>
                </a:solidFill>
                <a:latin typeface="Aptos"/>
              </a:rPr>
              <a:t>44.40%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E8FAF5-74F0-C1B8-8591-BC8591A3D1FC}"/>
              </a:ext>
            </a:extLst>
          </p:cNvPr>
          <p:cNvSpPr txBox="1"/>
          <p:nvPr/>
        </p:nvSpPr>
        <p:spPr>
          <a:xfrm>
            <a:off x="8300408" y="2029968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2305B"/>
                </a:solidFill>
                <a:latin typeface="Aptos"/>
              </a:rPr>
              <a:t>MEANING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544A0A-9D69-EAA8-04F8-AFADB486C2BA}"/>
              </a:ext>
            </a:extLst>
          </p:cNvPr>
          <p:cNvSpPr txBox="1"/>
          <p:nvPr/>
        </p:nvSpPr>
        <p:spPr>
          <a:xfrm>
            <a:off x="8222742" y="21671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142337"/>
                </a:solidFill>
                <a:latin typeface="Aptos"/>
              </a:rPr>
              <a:t>Percentage of users who churn.</a:t>
            </a:r>
          </a:p>
        </p:txBody>
      </p:sp>
      <p:sp>
        <p:nvSpPr>
          <p:cNvPr id="65" name="Rounded Rectangle 30">
            <a:extLst>
              <a:ext uri="{FF2B5EF4-FFF2-40B4-BE49-F238E27FC236}">
                <a16:creationId xmlns:a16="http://schemas.microsoft.com/office/drawing/2014/main" id="{73E0D025-E269-0B96-CB18-1DB9338DF28C}"/>
              </a:ext>
            </a:extLst>
          </p:cNvPr>
          <p:cNvSpPr/>
          <p:nvPr/>
        </p:nvSpPr>
        <p:spPr>
          <a:xfrm>
            <a:off x="256032" y="2670047"/>
            <a:ext cx="11676888" cy="1743183"/>
          </a:xfrm>
          <a:prstGeom prst="roundRect">
            <a:avLst/>
          </a:prstGeom>
          <a:solidFill>
            <a:srgbClr val="EBFAF2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4D6E02-A029-5D48-78AF-05742F4BB3BC}"/>
              </a:ext>
            </a:extLst>
          </p:cNvPr>
          <p:cNvSpPr txBox="1"/>
          <p:nvPr/>
        </p:nvSpPr>
        <p:spPr>
          <a:xfrm>
            <a:off x="438912" y="27614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9164"/>
                </a:solidFill>
                <a:latin typeface="Aptos"/>
              </a:rPr>
              <a:t>2. VIEWING &amp; ENGAGEMENT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64CCA7-1336-8346-FF8D-2E9AA1D0BD60}"/>
              </a:ext>
            </a:extLst>
          </p:cNvPr>
          <p:cNvSpPr txBox="1"/>
          <p:nvPr/>
        </p:nvSpPr>
        <p:spPr>
          <a:xfrm>
            <a:off x="6400800" y="277977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09164"/>
                </a:solidFill>
                <a:latin typeface="Aptos"/>
              </a:rPr>
              <a:t>Measures how actively and deeply users consume content.</a:t>
            </a:r>
          </a:p>
        </p:txBody>
      </p:sp>
      <p:sp>
        <p:nvSpPr>
          <p:cNvPr id="71" name="Rounded Rectangle 33">
            <a:extLst>
              <a:ext uri="{FF2B5EF4-FFF2-40B4-BE49-F238E27FC236}">
                <a16:creationId xmlns:a16="http://schemas.microsoft.com/office/drawing/2014/main" id="{6DED69B0-4461-08B8-63E9-5855C0D2E6CA}"/>
              </a:ext>
            </a:extLst>
          </p:cNvPr>
          <p:cNvSpPr/>
          <p:nvPr/>
        </p:nvSpPr>
        <p:spPr>
          <a:xfrm>
            <a:off x="411480" y="3035808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3762B7-5276-5A23-3693-04E06F943A70}"/>
              </a:ext>
            </a:extLst>
          </p:cNvPr>
          <p:cNvSpPr txBox="1"/>
          <p:nvPr/>
        </p:nvSpPr>
        <p:spPr>
          <a:xfrm>
            <a:off x="548640" y="31272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05B"/>
                </a:solidFill>
                <a:latin typeface="Aptos"/>
              </a:rPr>
              <a:t>Total Viewing Sessions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B33117F-B1E1-FD3B-1CF0-E2A4D7015B3A}"/>
              </a:ext>
            </a:extLst>
          </p:cNvPr>
          <p:cNvSpPr txBox="1"/>
          <p:nvPr/>
        </p:nvSpPr>
        <p:spPr>
          <a:xfrm>
            <a:off x="548640" y="3346703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7C3AED"/>
                </a:solidFill>
                <a:latin typeface="Aptos"/>
              </a:rPr>
              <a:t>30,000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6EA007E-63F8-7167-CDE1-1EC54AA6612C}"/>
              </a:ext>
            </a:extLst>
          </p:cNvPr>
          <p:cNvSpPr txBox="1"/>
          <p:nvPr/>
        </p:nvSpPr>
        <p:spPr>
          <a:xfrm>
            <a:off x="548640" y="3913632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2305B"/>
                </a:solidFill>
                <a:latin typeface="Aptos"/>
              </a:rPr>
              <a:t>MEANING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8A15A36-3684-7E17-34DC-9313835EFB0D}"/>
              </a:ext>
            </a:extLst>
          </p:cNvPr>
          <p:cNvSpPr txBox="1"/>
          <p:nvPr/>
        </p:nvSpPr>
        <p:spPr>
          <a:xfrm>
            <a:off x="548640" y="4057397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142337"/>
                </a:solidFill>
                <a:latin typeface="Aptos"/>
              </a:rPr>
              <a:t>Total number of viewing sessions.</a:t>
            </a:r>
          </a:p>
        </p:txBody>
      </p:sp>
      <p:sp>
        <p:nvSpPr>
          <p:cNvPr id="85" name="Rounded Rectangle 40">
            <a:extLst>
              <a:ext uri="{FF2B5EF4-FFF2-40B4-BE49-F238E27FC236}">
                <a16:creationId xmlns:a16="http://schemas.microsoft.com/office/drawing/2014/main" id="{997A2BC3-1BC2-717F-8D4A-C0E8AFD88461}"/>
              </a:ext>
            </a:extLst>
          </p:cNvPr>
          <p:cNvSpPr/>
          <p:nvPr/>
        </p:nvSpPr>
        <p:spPr>
          <a:xfrm>
            <a:off x="3300984" y="3035808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6CC77B-18FE-582D-D14D-8C806B70C0A7}"/>
              </a:ext>
            </a:extLst>
          </p:cNvPr>
          <p:cNvSpPr txBox="1"/>
          <p:nvPr/>
        </p:nvSpPr>
        <p:spPr>
          <a:xfrm>
            <a:off x="3438144" y="31272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05B"/>
                </a:solidFill>
                <a:latin typeface="Aptos"/>
              </a:rPr>
              <a:t>Average Watch Duration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FC0DE1F-4506-0612-DE4C-81EB878107A4}"/>
              </a:ext>
            </a:extLst>
          </p:cNvPr>
          <p:cNvSpPr txBox="1"/>
          <p:nvPr/>
        </p:nvSpPr>
        <p:spPr>
          <a:xfrm>
            <a:off x="3438144" y="3346703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EA580C"/>
                </a:solidFill>
                <a:latin typeface="Aptos"/>
              </a:rPr>
              <a:t>181.00 min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AAF864D-B853-740E-5271-57517FCD06CF}"/>
              </a:ext>
            </a:extLst>
          </p:cNvPr>
          <p:cNvSpPr txBox="1"/>
          <p:nvPr/>
        </p:nvSpPr>
        <p:spPr>
          <a:xfrm>
            <a:off x="3438144" y="3797572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dirty="0">
                <a:solidFill>
                  <a:srgbClr val="12305B"/>
                </a:solidFill>
                <a:latin typeface="Aptos"/>
              </a:rPr>
              <a:t>MEANING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CBB36A5-665F-DDD0-8179-34267DF21695}"/>
              </a:ext>
            </a:extLst>
          </p:cNvPr>
          <p:cNvSpPr txBox="1"/>
          <p:nvPr/>
        </p:nvSpPr>
        <p:spPr>
          <a:xfrm>
            <a:off x="3438144" y="3931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142337"/>
                </a:solidFill>
                <a:latin typeface="Aptos"/>
              </a:rPr>
              <a:t>Average viewing time per session.</a:t>
            </a:r>
          </a:p>
        </p:txBody>
      </p:sp>
      <p:sp>
        <p:nvSpPr>
          <p:cNvPr id="99" name="Rounded Rectangle 47">
            <a:extLst>
              <a:ext uri="{FF2B5EF4-FFF2-40B4-BE49-F238E27FC236}">
                <a16:creationId xmlns:a16="http://schemas.microsoft.com/office/drawing/2014/main" id="{57D27FA5-84A8-ACBC-4E12-43A18847372A}"/>
              </a:ext>
            </a:extLst>
          </p:cNvPr>
          <p:cNvSpPr/>
          <p:nvPr/>
        </p:nvSpPr>
        <p:spPr>
          <a:xfrm>
            <a:off x="6190488" y="3035808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676ED3F-E996-9E03-C1EC-AF04BA888074}"/>
              </a:ext>
            </a:extLst>
          </p:cNvPr>
          <p:cNvSpPr txBox="1"/>
          <p:nvPr/>
        </p:nvSpPr>
        <p:spPr>
          <a:xfrm>
            <a:off x="6327648" y="31272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05B"/>
                </a:solidFill>
                <a:latin typeface="Aptos"/>
              </a:rPr>
              <a:t>Average Completion %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405AC6A-2E55-7232-2E68-5460D0F766C0}"/>
              </a:ext>
            </a:extLst>
          </p:cNvPr>
          <p:cNvSpPr txBox="1"/>
          <p:nvPr/>
        </p:nvSpPr>
        <p:spPr>
          <a:xfrm>
            <a:off x="6327648" y="3346703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87E96"/>
                </a:solidFill>
                <a:latin typeface="Aptos"/>
              </a:rPr>
              <a:t>52.36%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AE927B9-1F14-55DA-078C-1E2DCFC3D6B2}"/>
              </a:ext>
            </a:extLst>
          </p:cNvPr>
          <p:cNvSpPr txBox="1"/>
          <p:nvPr/>
        </p:nvSpPr>
        <p:spPr>
          <a:xfrm>
            <a:off x="6327648" y="3861580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dirty="0">
                <a:solidFill>
                  <a:srgbClr val="12305B"/>
                </a:solidFill>
                <a:latin typeface="Aptos"/>
              </a:rPr>
              <a:t>MEANING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DEC67F7-9DB7-BF24-32A3-6F9E8AC3C82D}"/>
              </a:ext>
            </a:extLst>
          </p:cNvPr>
          <p:cNvSpPr txBox="1"/>
          <p:nvPr/>
        </p:nvSpPr>
        <p:spPr>
          <a:xfrm>
            <a:off x="6327648" y="3978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142337"/>
                </a:solidFill>
                <a:latin typeface="Aptos"/>
              </a:rPr>
              <a:t>Average percentage of content completed.</a:t>
            </a:r>
          </a:p>
        </p:txBody>
      </p:sp>
      <p:sp>
        <p:nvSpPr>
          <p:cNvPr id="113" name="Rounded Rectangle 54">
            <a:extLst>
              <a:ext uri="{FF2B5EF4-FFF2-40B4-BE49-F238E27FC236}">
                <a16:creationId xmlns:a16="http://schemas.microsoft.com/office/drawing/2014/main" id="{BFD2BA5E-0D9F-543D-97C2-6877E5B21A11}"/>
              </a:ext>
            </a:extLst>
          </p:cNvPr>
          <p:cNvSpPr/>
          <p:nvPr/>
        </p:nvSpPr>
        <p:spPr>
          <a:xfrm>
            <a:off x="9079992" y="3035808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DE8FDEB-3139-FA44-8ED8-B6DF0F44E19F}"/>
              </a:ext>
            </a:extLst>
          </p:cNvPr>
          <p:cNvSpPr txBox="1"/>
          <p:nvPr/>
        </p:nvSpPr>
        <p:spPr>
          <a:xfrm>
            <a:off x="9217152" y="31272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05B"/>
                </a:solidFill>
                <a:latin typeface="Aptos"/>
              </a:rPr>
              <a:t>Rewatch Rate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17BA8FB-BE80-15EA-1C73-AFFA5A3139AC}"/>
              </a:ext>
            </a:extLst>
          </p:cNvPr>
          <p:cNvSpPr txBox="1"/>
          <p:nvPr/>
        </p:nvSpPr>
        <p:spPr>
          <a:xfrm>
            <a:off x="9217152" y="3346703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DB2777"/>
                </a:solidFill>
                <a:latin typeface="Aptos"/>
              </a:rPr>
              <a:t>49.78%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F90DB5F-51DB-39F7-A187-140C0E5CB6AE}"/>
              </a:ext>
            </a:extLst>
          </p:cNvPr>
          <p:cNvSpPr txBox="1"/>
          <p:nvPr/>
        </p:nvSpPr>
        <p:spPr>
          <a:xfrm>
            <a:off x="9213166" y="3861580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2305B"/>
                </a:solidFill>
                <a:latin typeface="Aptos"/>
              </a:rPr>
              <a:t>MEANING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C3A2DBB-B2EF-BEB1-B445-562768EA6860}"/>
              </a:ext>
            </a:extLst>
          </p:cNvPr>
          <p:cNvSpPr txBox="1"/>
          <p:nvPr/>
        </p:nvSpPr>
        <p:spPr>
          <a:xfrm>
            <a:off x="9193706" y="400209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142337"/>
                </a:solidFill>
                <a:latin typeface="Aptos"/>
              </a:rPr>
              <a:t>Repeat viewing </a:t>
            </a:r>
            <a:r>
              <a:rPr sz="750" b="0" dirty="0" err="1">
                <a:solidFill>
                  <a:srgbClr val="142337"/>
                </a:solidFill>
                <a:latin typeface="Aptos"/>
              </a:rPr>
              <a:t>behaviour</a:t>
            </a:r>
            <a:r>
              <a:rPr sz="750" b="0" dirty="0">
                <a:solidFill>
                  <a:srgbClr val="142337"/>
                </a:solidFill>
                <a:latin typeface="Aptos"/>
              </a:rPr>
              <a:t>.</a:t>
            </a:r>
          </a:p>
        </p:txBody>
      </p:sp>
      <p:sp>
        <p:nvSpPr>
          <p:cNvPr id="127" name="Rounded Rectangle 61">
            <a:extLst>
              <a:ext uri="{FF2B5EF4-FFF2-40B4-BE49-F238E27FC236}">
                <a16:creationId xmlns:a16="http://schemas.microsoft.com/office/drawing/2014/main" id="{33868744-3048-91B0-260F-55EF3406FE39}"/>
              </a:ext>
            </a:extLst>
          </p:cNvPr>
          <p:cNvSpPr/>
          <p:nvPr/>
        </p:nvSpPr>
        <p:spPr>
          <a:xfrm>
            <a:off x="256032" y="4462272"/>
            <a:ext cx="11676888" cy="1664208"/>
          </a:xfrm>
          <a:prstGeom prst="roundRect">
            <a:avLst/>
          </a:prstGeom>
          <a:solidFill>
            <a:srgbClr val="FFF5E8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3845BA4-8693-485D-49CD-B75BC05CC39A}"/>
              </a:ext>
            </a:extLst>
          </p:cNvPr>
          <p:cNvSpPr txBox="1"/>
          <p:nvPr/>
        </p:nvSpPr>
        <p:spPr>
          <a:xfrm>
            <a:off x="438912" y="45537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Aptos"/>
              </a:rPr>
              <a:t>3. CONTENT &amp; FEEDBACK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576D274-8805-906B-6727-EAFC72D52093}"/>
              </a:ext>
            </a:extLst>
          </p:cNvPr>
          <p:cNvSpPr txBox="1"/>
          <p:nvPr/>
        </p:nvSpPr>
        <p:spPr>
          <a:xfrm>
            <a:off x="6400800" y="4572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EA580C"/>
                </a:solidFill>
                <a:latin typeface="Aptos"/>
              </a:rPr>
              <a:t>Measures catalogue size, viewer ratings and content popularity.</a:t>
            </a:r>
          </a:p>
        </p:txBody>
      </p:sp>
      <p:sp>
        <p:nvSpPr>
          <p:cNvPr id="133" name="Rounded Rectangle 64">
            <a:extLst>
              <a:ext uri="{FF2B5EF4-FFF2-40B4-BE49-F238E27FC236}">
                <a16:creationId xmlns:a16="http://schemas.microsoft.com/office/drawing/2014/main" id="{7F0F2559-CB55-2E4D-7DFC-FD0D42795969}"/>
              </a:ext>
            </a:extLst>
          </p:cNvPr>
          <p:cNvSpPr/>
          <p:nvPr/>
        </p:nvSpPr>
        <p:spPr>
          <a:xfrm>
            <a:off x="411479" y="4828032"/>
            <a:ext cx="3685031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50EFF7C-CB87-3CCE-4D07-ADC3EE68B5D4}"/>
              </a:ext>
            </a:extLst>
          </p:cNvPr>
          <p:cNvSpPr txBox="1"/>
          <p:nvPr/>
        </p:nvSpPr>
        <p:spPr>
          <a:xfrm>
            <a:off x="548640" y="491947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05B"/>
                </a:solidFill>
                <a:latin typeface="Aptos"/>
              </a:rPr>
              <a:t>Total Content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9CC7293-183C-AA2F-7565-1EED3E80BD2D}"/>
              </a:ext>
            </a:extLst>
          </p:cNvPr>
          <p:cNvSpPr txBox="1"/>
          <p:nvPr/>
        </p:nvSpPr>
        <p:spPr>
          <a:xfrm>
            <a:off x="610516" y="5172651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87E96"/>
                </a:solidFill>
                <a:latin typeface="Aptos"/>
              </a:rPr>
              <a:t>17,797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6C4D364-F1A0-B608-6458-C157C5C1AACD}"/>
              </a:ext>
            </a:extLst>
          </p:cNvPr>
          <p:cNvSpPr txBox="1"/>
          <p:nvPr/>
        </p:nvSpPr>
        <p:spPr>
          <a:xfrm>
            <a:off x="617220" y="5596128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2305B"/>
                </a:solidFill>
                <a:latin typeface="Aptos"/>
              </a:rPr>
              <a:t>MEANING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1BEC441-E09B-79E8-0271-BF9C4F389020}"/>
              </a:ext>
            </a:extLst>
          </p:cNvPr>
          <p:cNvSpPr txBox="1"/>
          <p:nvPr/>
        </p:nvSpPr>
        <p:spPr>
          <a:xfrm>
            <a:off x="630937" y="571523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142337"/>
                </a:solidFill>
                <a:latin typeface="Aptos"/>
              </a:rPr>
              <a:t>Total unique content items.</a:t>
            </a:r>
          </a:p>
        </p:txBody>
      </p:sp>
      <p:sp>
        <p:nvSpPr>
          <p:cNvPr id="147" name="Rounded Rectangle 71">
            <a:extLst>
              <a:ext uri="{FF2B5EF4-FFF2-40B4-BE49-F238E27FC236}">
                <a16:creationId xmlns:a16="http://schemas.microsoft.com/office/drawing/2014/main" id="{E2E454A7-79C2-E699-52D1-D75E4865B0FC}"/>
              </a:ext>
            </a:extLst>
          </p:cNvPr>
          <p:cNvSpPr/>
          <p:nvPr/>
        </p:nvSpPr>
        <p:spPr>
          <a:xfrm>
            <a:off x="4261104" y="4828032"/>
            <a:ext cx="368503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D7F4F08-556F-9515-DFA7-3435841B514C}"/>
              </a:ext>
            </a:extLst>
          </p:cNvPr>
          <p:cNvSpPr txBox="1"/>
          <p:nvPr/>
        </p:nvSpPr>
        <p:spPr>
          <a:xfrm>
            <a:off x="4398264" y="491947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05B"/>
                </a:solidFill>
                <a:latin typeface="Aptos"/>
              </a:rPr>
              <a:t>Average Rating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E4E3EA5-D974-AECC-AF30-63E4FBF568F5}"/>
              </a:ext>
            </a:extLst>
          </p:cNvPr>
          <p:cNvSpPr txBox="1"/>
          <p:nvPr/>
        </p:nvSpPr>
        <p:spPr>
          <a:xfrm>
            <a:off x="4615725" y="5063543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EA580C"/>
                </a:solidFill>
                <a:latin typeface="Aptos"/>
              </a:rPr>
              <a:t>3.01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0C1C6A0-272A-9AF0-45D3-356312999C28}"/>
              </a:ext>
            </a:extLst>
          </p:cNvPr>
          <p:cNvSpPr txBox="1"/>
          <p:nvPr/>
        </p:nvSpPr>
        <p:spPr>
          <a:xfrm>
            <a:off x="4439295" y="5541264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dirty="0">
                <a:solidFill>
                  <a:srgbClr val="12305B"/>
                </a:solidFill>
                <a:latin typeface="Aptos"/>
              </a:rPr>
              <a:t>MEANING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3A1784E-22FD-3164-B7F3-BE2B9ACF1E3C}"/>
              </a:ext>
            </a:extLst>
          </p:cNvPr>
          <p:cNvSpPr txBox="1"/>
          <p:nvPr/>
        </p:nvSpPr>
        <p:spPr>
          <a:xfrm>
            <a:off x="4343166" y="566169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142337"/>
                </a:solidFill>
                <a:latin typeface="Aptos"/>
              </a:rPr>
              <a:t>Average viewer rating.</a:t>
            </a:r>
          </a:p>
        </p:txBody>
      </p:sp>
      <p:sp>
        <p:nvSpPr>
          <p:cNvPr id="161" name="Rounded Rectangle 78">
            <a:extLst>
              <a:ext uri="{FF2B5EF4-FFF2-40B4-BE49-F238E27FC236}">
                <a16:creationId xmlns:a16="http://schemas.microsoft.com/office/drawing/2014/main" id="{F79D3D46-80E0-E858-1594-64071F04EA1E}"/>
              </a:ext>
            </a:extLst>
          </p:cNvPr>
          <p:cNvSpPr/>
          <p:nvPr/>
        </p:nvSpPr>
        <p:spPr>
          <a:xfrm>
            <a:off x="8110727" y="4828032"/>
            <a:ext cx="3657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08F5DB5-7151-089B-10DE-91D1D9CBF198}"/>
              </a:ext>
            </a:extLst>
          </p:cNvPr>
          <p:cNvSpPr txBox="1"/>
          <p:nvPr/>
        </p:nvSpPr>
        <p:spPr>
          <a:xfrm>
            <a:off x="8247888" y="491947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05B"/>
                </a:solidFill>
                <a:latin typeface="Aptos"/>
              </a:rPr>
              <a:t>Average Popularity Score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6847021-37E4-F1CF-4E87-B9FE6E07110B}"/>
              </a:ext>
            </a:extLst>
          </p:cNvPr>
          <p:cNvSpPr txBox="1"/>
          <p:nvPr/>
        </p:nvSpPr>
        <p:spPr>
          <a:xfrm>
            <a:off x="8295136" y="5133048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DB2777"/>
                </a:solidFill>
                <a:latin typeface="Aptos"/>
              </a:rPr>
              <a:t>4.20</a:t>
            </a:r>
            <a:endParaRPr sz="2400" b="1" dirty="0">
              <a:solidFill>
                <a:srgbClr val="DB2777"/>
              </a:solidFill>
              <a:latin typeface="Apto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962934F-7222-8D88-107C-517F256E850A}"/>
              </a:ext>
            </a:extLst>
          </p:cNvPr>
          <p:cNvSpPr txBox="1"/>
          <p:nvPr/>
        </p:nvSpPr>
        <p:spPr>
          <a:xfrm>
            <a:off x="8279306" y="5513832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2305B"/>
                </a:solidFill>
                <a:latin typeface="Aptos"/>
              </a:rPr>
              <a:t>MEANING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748ABDB-A6C9-5F78-E766-E6B0608EBB8A}"/>
              </a:ext>
            </a:extLst>
          </p:cNvPr>
          <p:cNvSpPr txBox="1"/>
          <p:nvPr/>
        </p:nvSpPr>
        <p:spPr>
          <a:xfrm>
            <a:off x="8213442" y="55961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142337"/>
                </a:solidFill>
                <a:latin typeface="Aptos"/>
              </a:rPr>
              <a:t>Average popularity of content.</a:t>
            </a:r>
          </a:p>
        </p:txBody>
      </p:sp>
    </p:spTree>
    <p:extLst>
      <p:ext uri="{BB962C8B-B14F-4D97-AF65-F5344CB8AC3E}">
        <p14:creationId xmlns:p14="http://schemas.microsoft.com/office/powerpoint/2010/main" val="2311089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86925-E24C-5E05-1D15-79F0338C4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983" y="2309241"/>
            <a:ext cx="10380573" cy="1432273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Exploratory 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D3D54D-1106-6EB4-968C-16D2AD6C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052" y="6474334"/>
            <a:ext cx="395748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7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D588B-789C-6F2C-A2FB-277A2C47F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0EC8-B100-A77B-AFB1-E7AF07A9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29" y="-14748"/>
            <a:ext cx="10515600" cy="916334"/>
          </a:xfrm>
        </p:spPr>
        <p:txBody>
          <a:bodyPr/>
          <a:lstStyle/>
          <a:p>
            <a:r>
              <a:rPr lang="en-IN" dirty="0"/>
              <a:t>Insights from SQL Scripts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A2823-FB0C-62AA-09D3-7EFE8CCA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6323" y="6489082"/>
            <a:ext cx="587477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C5268E-0F2B-5FC4-FC72-D547E1D826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19829" y="1010586"/>
            <a:ext cx="5137074" cy="32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  <a:buNone/>
              <a:defRPr sz="1700" b="0">
                <a:solidFill>
                  <a:srgbClr val="262D34"/>
                </a:solidFill>
              </a:defRPr>
            </a:pPr>
            <a:r>
              <a:rPr lang="en-IN" sz="1700" dirty="0">
                <a:solidFill>
                  <a:srgbClr val="262D34"/>
                </a:solidFill>
              </a:rPr>
              <a:t>O1: Content Performance &amp; Viewer Engagement   &amp;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8AFB2D-215B-F9FF-8F16-1BFDE35B3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5" t="-599" r="6022" b="13672"/>
          <a:stretch>
            <a:fillRect/>
          </a:stretch>
        </p:blipFill>
        <p:spPr>
          <a:xfrm>
            <a:off x="395578" y="1463301"/>
            <a:ext cx="7684500" cy="188779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DDA841-7D7C-ECE3-11E9-012D2CDF7F90}"/>
              </a:ext>
            </a:extLst>
          </p:cNvPr>
          <p:cNvSpPr/>
          <p:nvPr/>
        </p:nvSpPr>
        <p:spPr>
          <a:xfrm>
            <a:off x="8931973" y="1693397"/>
            <a:ext cx="2833723" cy="24004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D231D6-A210-01A7-AC98-F3800755675C}"/>
              </a:ext>
            </a:extLst>
          </p:cNvPr>
          <p:cNvSpPr txBox="1">
            <a:spLocks/>
          </p:cNvSpPr>
          <p:nvPr/>
        </p:nvSpPr>
        <p:spPr>
          <a:xfrm>
            <a:off x="9183596" y="1985663"/>
            <a:ext cx="24537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Analysed content types and genres to understand which content attracts viewers and keeps them engaged through watch duration and completion rate.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40B733-9B23-0C31-6FF0-BCB8DB6A7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257" y="3801545"/>
            <a:ext cx="3299542" cy="26268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A3E8B7-8D87-5231-0C3F-EA7E049E348D}"/>
              </a:ext>
            </a:extLst>
          </p:cNvPr>
          <p:cNvSpPr txBox="1"/>
          <p:nvPr/>
        </p:nvSpPr>
        <p:spPr>
          <a:xfrm>
            <a:off x="5132439" y="979679"/>
            <a:ext cx="610337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dirty="0">
                <a:solidFill>
                  <a:srgbClr val="262D34"/>
                </a:solidFill>
              </a:rPr>
              <a:t>O2: Platform &amp; Content Portfolio Performance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F40ED1-2A63-8DB5-3765-823A4BA8C502}"/>
              </a:ext>
            </a:extLst>
          </p:cNvPr>
          <p:cNvSpPr/>
          <p:nvPr/>
        </p:nvSpPr>
        <p:spPr>
          <a:xfrm>
            <a:off x="6096000" y="3964396"/>
            <a:ext cx="2833723" cy="24004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EEC3DC-F188-6A96-CC32-ACB581EC6FE8}"/>
              </a:ext>
            </a:extLst>
          </p:cNvPr>
          <p:cNvSpPr txBox="1">
            <a:spLocks/>
          </p:cNvSpPr>
          <p:nvPr/>
        </p:nvSpPr>
        <p:spPr>
          <a:xfrm>
            <a:off x="6260833" y="4300378"/>
            <a:ext cx="25040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Compared platforms based on content availability, viewing activity, watch duration and completion to identify stronger-performing platform portfolios.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49E6B128-4DED-189A-1288-4EE9CCFF9DDF}"/>
              </a:ext>
            </a:extLst>
          </p:cNvPr>
          <p:cNvSpPr txBox="1">
            <a:spLocks/>
          </p:cNvSpPr>
          <p:nvPr/>
        </p:nvSpPr>
        <p:spPr>
          <a:xfrm>
            <a:off x="2623180" y="3377127"/>
            <a:ext cx="2833723" cy="25955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000"/>
              </a:spcAft>
              <a:buFont typeface="Arial" panose="020B0604020202020204" pitchFamily="34" charset="0"/>
              <a:buNone/>
              <a:defRPr sz="1700" b="0">
                <a:solidFill>
                  <a:srgbClr val="262D34"/>
                </a:solidFill>
              </a:defRPr>
            </a:pPr>
            <a:r>
              <a:rPr lang="fr-FR" sz="1200" dirty="0">
                <a:solidFill>
                  <a:srgbClr val="262D34"/>
                </a:solidFill>
              </a:rPr>
              <a:t>Content Type Performance</a:t>
            </a:r>
          </a:p>
        </p:txBody>
      </p:sp>
      <p:sp>
        <p:nvSpPr>
          <p:cNvPr id="21" name="Arrow: Left-Up 20">
            <a:extLst>
              <a:ext uri="{FF2B5EF4-FFF2-40B4-BE49-F238E27FC236}">
                <a16:creationId xmlns:a16="http://schemas.microsoft.com/office/drawing/2014/main" id="{29B0A425-CDF1-D272-0261-161B66A55923}"/>
              </a:ext>
            </a:extLst>
          </p:cNvPr>
          <p:cNvSpPr/>
          <p:nvPr/>
        </p:nvSpPr>
        <p:spPr>
          <a:xfrm>
            <a:off x="4586748" y="3411659"/>
            <a:ext cx="191729" cy="127954"/>
          </a:xfrm>
          <a:prstGeom prst="left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05DB4B17-06A8-A03E-D8AC-9E8AF5A2939C}"/>
              </a:ext>
            </a:extLst>
          </p:cNvPr>
          <p:cNvSpPr txBox="1">
            <a:spLocks/>
          </p:cNvSpPr>
          <p:nvPr/>
        </p:nvSpPr>
        <p:spPr>
          <a:xfrm>
            <a:off x="2076076" y="6518370"/>
            <a:ext cx="2833723" cy="25955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000"/>
              </a:spcAft>
              <a:buFont typeface="Arial" panose="020B0604020202020204" pitchFamily="34" charset="0"/>
              <a:buNone/>
              <a:defRPr sz="1700" b="0">
                <a:solidFill>
                  <a:srgbClr val="262D34"/>
                </a:solidFill>
              </a:defRPr>
            </a:pPr>
            <a:r>
              <a:rPr lang="fr-FR" sz="1200" dirty="0">
                <a:solidFill>
                  <a:srgbClr val="262D34"/>
                </a:solidFill>
              </a:rPr>
              <a:t>Platform &amp; Content Type portfolio</a:t>
            </a:r>
          </a:p>
        </p:txBody>
      </p:sp>
    </p:spTree>
    <p:extLst>
      <p:ext uri="{BB962C8B-B14F-4D97-AF65-F5344CB8AC3E}">
        <p14:creationId xmlns:p14="http://schemas.microsoft.com/office/powerpoint/2010/main" val="2551792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7BA77-1EB1-E4AA-EC04-B1B8FB35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B1C9-BBD8-6A19-8541-D20075C26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29" y="-14748"/>
            <a:ext cx="10515600" cy="916334"/>
          </a:xfrm>
        </p:spPr>
        <p:txBody>
          <a:bodyPr/>
          <a:lstStyle/>
          <a:p>
            <a:r>
              <a:rPr lang="en-IN" dirty="0"/>
              <a:t>Insights from SQL Scripts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42D7D-E003-4E67-C15F-74AB6873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6323" y="6489082"/>
            <a:ext cx="587477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0C032A-4BE7-52E9-DB4D-2E296F4FAF0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19829" y="979680"/>
            <a:ext cx="3662236" cy="32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  <a:buNone/>
              <a:defRPr sz="1700" b="0">
                <a:solidFill>
                  <a:srgbClr val="262D34"/>
                </a:solidFill>
              </a:defRPr>
            </a:pPr>
            <a:r>
              <a:rPr lang="en-IN" sz="1700" dirty="0">
                <a:solidFill>
                  <a:srgbClr val="262D34"/>
                </a:solidFill>
              </a:rPr>
              <a:t>O3: Customer Viewing Behaviour   &amp;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7DB51-EAF6-DEB7-DFB8-0E0E0C6B84DC}"/>
              </a:ext>
            </a:extLst>
          </p:cNvPr>
          <p:cNvSpPr txBox="1"/>
          <p:nvPr/>
        </p:nvSpPr>
        <p:spPr>
          <a:xfrm>
            <a:off x="3805084" y="963225"/>
            <a:ext cx="610337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dirty="0">
                <a:solidFill>
                  <a:srgbClr val="262D34"/>
                </a:solidFill>
              </a:rPr>
              <a:t>O4: Device &amp; Time-Based Viewing Patterns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EF28ED-5F96-282B-CD38-501F6236CB6A}"/>
              </a:ext>
            </a:extLst>
          </p:cNvPr>
          <p:cNvSpPr/>
          <p:nvPr/>
        </p:nvSpPr>
        <p:spPr>
          <a:xfrm>
            <a:off x="1320403" y="4895115"/>
            <a:ext cx="3908323" cy="17106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F9D9D0-D113-82AA-5314-0C4F9B763C33}"/>
              </a:ext>
            </a:extLst>
          </p:cNvPr>
          <p:cNvSpPr txBox="1">
            <a:spLocks/>
          </p:cNvSpPr>
          <p:nvPr/>
        </p:nvSpPr>
        <p:spPr>
          <a:xfrm>
            <a:off x="1529197" y="5011754"/>
            <a:ext cx="35248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Analysed viewing patterns across customer segments to understand who watches more and which segments show stronger engagement.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37D5F-0AE2-9C39-A015-616C1E4CE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r="2969" b="3200"/>
          <a:stretch>
            <a:fillRect/>
          </a:stretch>
        </p:blipFill>
        <p:spPr>
          <a:xfrm>
            <a:off x="427205" y="1452092"/>
            <a:ext cx="5319226" cy="2984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FF270E-50BF-86D4-FB6E-5DE59CCC0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4" t="3004" r="3953"/>
          <a:stretch>
            <a:fillRect/>
          </a:stretch>
        </p:blipFill>
        <p:spPr>
          <a:xfrm>
            <a:off x="6096000" y="1452091"/>
            <a:ext cx="5669698" cy="29845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7576D3-A872-89C2-466B-A5CB1E9C4933}"/>
              </a:ext>
            </a:extLst>
          </p:cNvPr>
          <p:cNvSpPr/>
          <p:nvPr/>
        </p:nvSpPr>
        <p:spPr>
          <a:xfrm>
            <a:off x="6858000" y="4894907"/>
            <a:ext cx="3908323" cy="17106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1067B-0E72-DCE6-9EBF-84B04AB9B6B0}"/>
              </a:ext>
            </a:extLst>
          </p:cNvPr>
          <p:cNvSpPr txBox="1">
            <a:spLocks/>
          </p:cNvSpPr>
          <p:nvPr/>
        </p:nvSpPr>
        <p:spPr>
          <a:xfrm>
            <a:off x="7086600" y="5089911"/>
            <a:ext cx="3451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Examined viewing behaviour by device and time of day to identify when and where customers are most engaged.</a:t>
            </a:r>
            <a:endParaRPr lang="en-IN" sz="1600" dirty="0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5C69297B-0B9D-743B-B4AB-A11461CB8C35}"/>
              </a:ext>
            </a:extLst>
          </p:cNvPr>
          <p:cNvSpPr txBox="1">
            <a:spLocks/>
          </p:cNvSpPr>
          <p:nvPr/>
        </p:nvSpPr>
        <p:spPr>
          <a:xfrm>
            <a:off x="1915393" y="4518919"/>
            <a:ext cx="3662236" cy="25955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000"/>
              </a:spcAft>
              <a:buFont typeface="Arial" panose="020B0604020202020204" pitchFamily="34" charset="0"/>
              <a:buNone/>
              <a:defRPr sz="1700" b="0">
                <a:solidFill>
                  <a:srgbClr val="262D34"/>
                </a:solidFill>
              </a:defRPr>
            </a:pPr>
            <a:r>
              <a:rPr lang="en-IN" sz="1200" dirty="0">
                <a:solidFill>
                  <a:srgbClr val="262D34"/>
                </a:solidFill>
              </a:rPr>
              <a:t>Age Group wise Viewing Behaviour 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7A94A8FA-986B-E243-B5F7-1F08895D4989}"/>
              </a:ext>
            </a:extLst>
          </p:cNvPr>
          <p:cNvSpPr txBox="1">
            <a:spLocks/>
          </p:cNvSpPr>
          <p:nvPr/>
        </p:nvSpPr>
        <p:spPr>
          <a:xfrm>
            <a:off x="7847650" y="4518919"/>
            <a:ext cx="2690072" cy="25955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000"/>
              </a:spcAft>
              <a:buNone/>
              <a:defRPr sz="1700" b="0">
                <a:solidFill>
                  <a:srgbClr val="262D34"/>
                </a:solidFill>
              </a:defRPr>
            </a:pPr>
            <a:r>
              <a:rPr lang="en-IN" sz="1200" dirty="0">
                <a:solidFill>
                  <a:srgbClr val="262D34"/>
                </a:solidFill>
              </a:rPr>
              <a:t>Device &amp; Time-Based Behaviour </a:t>
            </a:r>
          </a:p>
        </p:txBody>
      </p:sp>
    </p:spTree>
    <p:extLst>
      <p:ext uri="{BB962C8B-B14F-4D97-AF65-F5344CB8AC3E}">
        <p14:creationId xmlns:p14="http://schemas.microsoft.com/office/powerpoint/2010/main" val="354931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8CF0-DA2B-98B3-B188-36248136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44703-6CBB-28C2-00D0-3694C1DAB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29" y="-14748"/>
            <a:ext cx="10515600" cy="916334"/>
          </a:xfrm>
        </p:spPr>
        <p:txBody>
          <a:bodyPr/>
          <a:lstStyle/>
          <a:p>
            <a:r>
              <a:rPr lang="en-IN" dirty="0"/>
              <a:t>Insights from SQL Scripts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7EA60-0B70-D650-616E-6AC26164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6323" y="6489082"/>
            <a:ext cx="587477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EDBC86-CD0E-5EEB-D287-7A4AEC1F759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19829" y="963226"/>
            <a:ext cx="3927706" cy="32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700" dirty="0">
                <a:solidFill>
                  <a:srgbClr val="262D34"/>
                </a:solidFill>
              </a:rPr>
              <a:t>O5: Subscription Retention &amp; Churn    &amp;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A14207-5DF9-0CB3-940F-4B9DC8A0363D}"/>
              </a:ext>
            </a:extLst>
          </p:cNvPr>
          <p:cNvSpPr txBox="1"/>
          <p:nvPr/>
        </p:nvSpPr>
        <p:spPr>
          <a:xfrm>
            <a:off x="4096648" y="932554"/>
            <a:ext cx="610337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dirty="0">
                <a:solidFill>
                  <a:srgbClr val="262D34"/>
                </a:solidFill>
              </a:rPr>
              <a:t>O6: Ratings, Feedback &amp; Content Success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91EFE2-29F8-7B03-0A55-67D5D2229793}"/>
              </a:ext>
            </a:extLst>
          </p:cNvPr>
          <p:cNvSpPr/>
          <p:nvPr/>
        </p:nvSpPr>
        <p:spPr>
          <a:xfrm>
            <a:off x="1382397" y="3958874"/>
            <a:ext cx="3623048" cy="139403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01193A-3F2B-0A5A-4CB9-33EA6951E2EF}"/>
              </a:ext>
            </a:extLst>
          </p:cNvPr>
          <p:cNvSpPr txBox="1">
            <a:spLocks/>
          </p:cNvSpPr>
          <p:nvPr/>
        </p:nvSpPr>
        <p:spPr>
          <a:xfrm>
            <a:off x="1546055" y="4116233"/>
            <a:ext cx="3295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Analysed ratings and customer feedback to understand satisfaction and identify  signals of successful content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76F7C3-4C2E-0468-E403-9F8DC9D92F7C}"/>
              </a:ext>
            </a:extLst>
          </p:cNvPr>
          <p:cNvSpPr/>
          <p:nvPr/>
        </p:nvSpPr>
        <p:spPr>
          <a:xfrm>
            <a:off x="7004254" y="3863522"/>
            <a:ext cx="4055807" cy="139403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3C986-E616-C1EE-0977-9BDE1D443B08}"/>
              </a:ext>
            </a:extLst>
          </p:cNvPr>
          <p:cNvSpPr txBox="1">
            <a:spLocks/>
          </p:cNvSpPr>
          <p:nvPr/>
        </p:nvSpPr>
        <p:spPr>
          <a:xfrm>
            <a:off x="7258946" y="3960374"/>
            <a:ext cx="3576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Analysed renewal and churn patterns across subscription and engagement segments to identify customers at higher retention risk.</a:t>
            </a:r>
            <a:endParaRPr lang="en-IN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C848A8-C5E6-267E-5B10-1F173C97E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" t="-2272" r="3501" b="18177"/>
          <a:stretch>
            <a:fillRect/>
          </a:stretch>
        </p:blipFill>
        <p:spPr>
          <a:xfrm>
            <a:off x="422794" y="1520068"/>
            <a:ext cx="5491036" cy="16303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E8D9E7-A840-513F-2B1E-0BA64E013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2" t="5805" r="15657" b="19345"/>
          <a:stretch>
            <a:fillRect/>
          </a:stretch>
        </p:blipFill>
        <p:spPr>
          <a:xfrm>
            <a:off x="6394518" y="1587918"/>
            <a:ext cx="5180515" cy="1627122"/>
          </a:xfrm>
          <a:prstGeom prst="rect">
            <a:avLst/>
          </a:prstGeom>
        </p:spPr>
      </p:pic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3014C584-F084-26E0-3B0E-EDAEF07E299C}"/>
              </a:ext>
            </a:extLst>
          </p:cNvPr>
          <p:cNvSpPr txBox="1">
            <a:spLocks/>
          </p:cNvSpPr>
          <p:nvPr/>
        </p:nvSpPr>
        <p:spPr>
          <a:xfrm>
            <a:off x="1954849" y="3577755"/>
            <a:ext cx="2426926" cy="25955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262D34"/>
                </a:solidFill>
              </a:rPr>
              <a:t>Engagement vs Churn Scorecard</a:t>
            </a:r>
            <a:endParaRPr lang="en-IN" sz="1200" dirty="0">
              <a:solidFill>
                <a:srgbClr val="262D34"/>
              </a:solidFill>
            </a:endParaRP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C304460D-43A2-63A9-51E2-4583473F829A}"/>
              </a:ext>
            </a:extLst>
          </p:cNvPr>
          <p:cNvSpPr txBox="1">
            <a:spLocks/>
          </p:cNvSpPr>
          <p:nvPr/>
        </p:nvSpPr>
        <p:spPr>
          <a:xfrm>
            <a:off x="8305118" y="3296577"/>
            <a:ext cx="1690454" cy="25955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200" dirty="0">
                <a:solidFill>
                  <a:srgbClr val="262D34"/>
                </a:solidFill>
              </a:rPr>
              <a:t>Ratings &amp; Feedback</a:t>
            </a:r>
          </a:p>
        </p:txBody>
      </p:sp>
    </p:spTree>
    <p:extLst>
      <p:ext uri="{BB962C8B-B14F-4D97-AF65-F5344CB8AC3E}">
        <p14:creationId xmlns:p14="http://schemas.microsoft.com/office/powerpoint/2010/main" val="901835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C995-BC97-0BF4-9E19-389DF5A4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726E63D-CC06-7897-FF9A-8ECBA4B754AF}"/>
              </a:ext>
            </a:extLst>
          </p:cNvPr>
          <p:cNvSpPr/>
          <p:nvPr/>
        </p:nvSpPr>
        <p:spPr>
          <a:xfrm>
            <a:off x="0" y="0"/>
            <a:ext cx="12192000" cy="941832"/>
          </a:xfrm>
          <a:prstGeom prst="roundRect">
            <a:avLst/>
          </a:prstGeom>
          <a:solidFill>
            <a:srgbClr val="16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414C3-30A9-6F04-0B2B-D1726A34CAF1}"/>
              </a:ext>
            </a:extLst>
          </p:cNvPr>
          <p:cNvSpPr txBox="1"/>
          <p:nvPr/>
        </p:nvSpPr>
        <p:spPr>
          <a:xfrm>
            <a:off x="621792" y="283464"/>
            <a:ext cx="6858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Insights from EDA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00AC4-20E8-9A75-18AB-20590A6FA33E}"/>
              </a:ext>
            </a:extLst>
          </p:cNvPr>
          <p:cNvSpPr txBox="1"/>
          <p:nvPr/>
        </p:nvSpPr>
        <p:spPr>
          <a:xfrm>
            <a:off x="7086600" y="356616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2"/>
                </a:solidFill>
                <a:latin typeface="Aptos"/>
              </a:defRPr>
            </a:pPr>
            <a:r>
              <a:t>Exploratory patterns across key objectives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6F47476-4990-FAAA-26EB-C4B76A6A56FD}"/>
              </a:ext>
            </a:extLst>
          </p:cNvPr>
          <p:cNvSpPr/>
          <p:nvPr/>
        </p:nvSpPr>
        <p:spPr>
          <a:xfrm>
            <a:off x="438912" y="1234440"/>
            <a:ext cx="3584448" cy="47091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053013-25D0-5084-48FF-6199BFB2607E}"/>
              </a:ext>
            </a:extLst>
          </p:cNvPr>
          <p:cNvSpPr/>
          <p:nvPr/>
        </p:nvSpPr>
        <p:spPr>
          <a:xfrm>
            <a:off x="640080" y="1399032"/>
            <a:ext cx="621792" cy="283464"/>
          </a:xfrm>
          <a:prstGeom prst="roundRect">
            <a:avLst/>
          </a:prstGeom>
          <a:solidFill>
            <a:srgbClr val="266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F29F0-0994-0158-CB22-D906BE34F080}"/>
              </a:ext>
            </a:extLst>
          </p:cNvPr>
          <p:cNvSpPr txBox="1"/>
          <p:nvPr/>
        </p:nvSpPr>
        <p:spPr>
          <a:xfrm>
            <a:off x="1243584" y="1373075"/>
            <a:ext cx="2423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365C"/>
                </a:solidFill>
                <a:latin typeface="Aptos Display"/>
              </a:defRPr>
            </a:pPr>
            <a:r>
              <a:rPr dirty="0"/>
              <a:t>Completion by Content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3D694-445A-5A57-850D-540136124873}"/>
              </a:ext>
            </a:extLst>
          </p:cNvPr>
          <p:cNvSpPr txBox="1"/>
          <p:nvPr/>
        </p:nvSpPr>
        <p:spPr>
          <a:xfrm>
            <a:off x="658368" y="4361688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9B9"/>
                </a:solidFill>
                <a:latin typeface="Aptos"/>
              </a:defRPr>
            </a:pPr>
            <a:r>
              <a:t>KEY EDA FINDING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049D40D-4F4E-A840-4582-36B474976913}"/>
              </a:ext>
            </a:extLst>
          </p:cNvPr>
          <p:cNvSpPr/>
          <p:nvPr/>
        </p:nvSpPr>
        <p:spPr>
          <a:xfrm>
            <a:off x="621792" y="4636008"/>
            <a:ext cx="321868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200" b="1">
                <a:solidFill>
                  <a:srgbClr val="16365C"/>
                </a:solidFill>
                <a:latin typeface="Aptos"/>
              </a:defRPr>
            </a:pPr>
            <a:r>
              <a:rPr lang="en-IN" sz="1200" b="1" dirty="0">
                <a:solidFill>
                  <a:srgbClr val="16365C"/>
                </a:solidFill>
                <a:latin typeface="Aptos"/>
              </a:rPr>
              <a:t>Movies had higher average completion: 53.22% vs 50.04% for TV Shows, indicating stronger viewer engagement with Movies.</a:t>
            </a:r>
            <a:endParaRPr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75B72A-6A20-EBB3-79A0-2548273821EF}"/>
              </a:ext>
            </a:extLst>
          </p:cNvPr>
          <p:cNvSpPr/>
          <p:nvPr/>
        </p:nvSpPr>
        <p:spPr>
          <a:xfrm>
            <a:off x="4297680" y="1234440"/>
            <a:ext cx="3584448" cy="47091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9A72A55-E547-A192-A300-0CF1571D979E}"/>
              </a:ext>
            </a:extLst>
          </p:cNvPr>
          <p:cNvSpPr/>
          <p:nvPr/>
        </p:nvSpPr>
        <p:spPr>
          <a:xfrm>
            <a:off x="4480560" y="1540764"/>
            <a:ext cx="621792" cy="283464"/>
          </a:xfrm>
          <a:prstGeom prst="roundRect">
            <a:avLst/>
          </a:prstGeom>
          <a:solidFill>
            <a:srgbClr val="D66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O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82397E-94C6-0606-B209-5CD27792817A}"/>
              </a:ext>
            </a:extLst>
          </p:cNvPr>
          <p:cNvSpPr txBox="1"/>
          <p:nvPr/>
        </p:nvSpPr>
        <p:spPr>
          <a:xfrm>
            <a:off x="5102352" y="1507799"/>
            <a:ext cx="2898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IN" sz="1400" b="1" dirty="0">
                <a:solidFill>
                  <a:schemeClr val="tx2"/>
                </a:solidFill>
              </a:rPr>
              <a:t>Platform Viewing Sessions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F65CAA-96AD-0A0E-93FD-08F8B434631F}"/>
              </a:ext>
            </a:extLst>
          </p:cNvPr>
          <p:cNvSpPr txBox="1"/>
          <p:nvPr/>
        </p:nvSpPr>
        <p:spPr>
          <a:xfrm>
            <a:off x="4517136" y="4361688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66418"/>
                </a:solidFill>
                <a:latin typeface="Aptos"/>
              </a:defRPr>
            </a:pPr>
            <a:r>
              <a:rPr dirty="0"/>
              <a:t>KEY EDA FINDING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A8E1CDB-D807-90AE-927D-630D48EDD908}"/>
              </a:ext>
            </a:extLst>
          </p:cNvPr>
          <p:cNvSpPr/>
          <p:nvPr/>
        </p:nvSpPr>
        <p:spPr>
          <a:xfrm>
            <a:off x="4480560" y="4636008"/>
            <a:ext cx="321868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200" b="1">
                <a:solidFill>
                  <a:srgbClr val="16365C"/>
                </a:solidFill>
                <a:latin typeface="Aptos"/>
              </a:defRPr>
            </a:pPr>
            <a:r>
              <a:rPr lang="en-IN" sz="1200" b="1" dirty="0">
                <a:solidFill>
                  <a:srgbClr val="16365C"/>
                </a:solidFill>
                <a:latin typeface="Aptos"/>
              </a:rPr>
              <a:t>NetStream recorded the highest viewing activity with 14,174 sessions.</a:t>
            </a:r>
            <a:endParaRPr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5D74C34-15BF-FCED-128B-2B18922CF6C8}"/>
              </a:ext>
            </a:extLst>
          </p:cNvPr>
          <p:cNvSpPr/>
          <p:nvPr/>
        </p:nvSpPr>
        <p:spPr>
          <a:xfrm>
            <a:off x="8156448" y="1234440"/>
            <a:ext cx="3584448" cy="47091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8C2624E-BF15-029A-1B12-0CA9801659FB}"/>
              </a:ext>
            </a:extLst>
          </p:cNvPr>
          <p:cNvSpPr/>
          <p:nvPr/>
        </p:nvSpPr>
        <p:spPr>
          <a:xfrm>
            <a:off x="8339327" y="1437620"/>
            <a:ext cx="621792" cy="283464"/>
          </a:xfrm>
          <a:prstGeom prst="roundRect">
            <a:avLst/>
          </a:prstGeom>
          <a:solidFill>
            <a:srgbClr val="1D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O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47F41B-CD73-D37F-C566-CF7E5E9BBB60}"/>
              </a:ext>
            </a:extLst>
          </p:cNvPr>
          <p:cNvSpPr txBox="1"/>
          <p:nvPr/>
        </p:nvSpPr>
        <p:spPr>
          <a:xfrm>
            <a:off x="8979409" y="1371599"/>
            <a:ext cx="2633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65C"/>
                </a:solidFill>
                <a:latin typeface="Aptos Display"/>
              </a:defRPr>
            </a:pPr>
            <a:r>
              <a:rPr lang="en-IN" sz="1400" b="1" dirty="0">
                <a:solidFill>
                  <a:srgbClr val="16365C"/>
                </a:solidFill>
                <a:latin typeface="Aptos Display"/>
              </a:rPr>
              <a:t>Viewing Sessions by Age Group</a:t>
            </a:r>
            <a:endParaRPr sz="1400" dirty="0"/>
          </a:p>
        </p:txBody>
      </p:sp>
      <p:pic>
        <p:nvPicPr>
          <p:cNvPr id="23" name="Picture 22" descr="o6_rating_completion.png">
            <a:extLst>
              <a:ext uri="{FF2B5EF4-FFF2-40B4-BE49-F238E27FC236}">
                <a16:creationId xmlns:a16="http://schemas.microsoft.com/office/drawing/2014/main" id="{ECDD339E-38B8-3849-0A2B-C20F5E8F3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1874519"/>
            <a:ext cx="3218688" cy="23317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BE692A1-DCC4-F1B5-F7DD-111F74E63DBD}"/>
              </a:ext>
            </a:extLst>
          </p:cNvPr>
          <p:cNvSpPr txBox="1"/>
          <p:nvPr/>
        </p:nvSpPr>
        <p:spPr>
          <a:xfrm>
            <a:off x="8375904" y="4361688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D825B"/>
                </a:solidFill>
                <a:latin typeface="Aptos"/>
              </a:defRPr>
            </a:pPr>
            <a:r>
              <a:t>KEY EDA FINDING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190F1B3-7331-C7A7-AEF6-23778DCDE15E}"/>
              </a:ext>
            </a:extLst>
          </p:cNvPr>
          <p:cNvSpPr/>
          <p:nvPr/>
        </p:nvSpPr>
        <p:spPr>
          <a:xfrm>
            <a:off x="8339327" y="4636008"/>
            <a:ext cx="321868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200" b="1">
                <a:solidFill>
                  <a:srgbClr val="16365C"/>
                </a:solidFill>
                <a:latin typeface="Aptos"/>
              </a:defRPr>
            </a:pPr>
            <a:r>
              <a:rPr lang="en-IN" sz="1200" b="1" dirty="0">
                <a:solidFill>
                  <a:srgbClr val="16365C"/>
                </a:solidFill>
                <a:latin typeface="Aptos"/>
              </a:rPr>
              <a:t>The 50+ age group recorded the highest viewing activity with 7,635 sessions.</a:t>
            </a:r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C183CB-5962-30D6-A861-5FA425FD3ADE}"/>
              </a:ext>
            </a:extLst>
          </p:cNvPr>
          <p:cNvSpPr txBox="1"/>
          <p:nvPr/>
        </p:nvSpPr>
        <p:spPr>
          <a:xfrm>
            <a:off x="11292840" y="6583680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74"/>
                </a:solidFill>
                <a:latin typeface="Aptos"/>
              </a:defRPr>
            </a:pPr>
            <a:r>
              <a:rPr dirty="0"/>
              <a:t>13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73A3158-E3CD-878D-256D-89396884E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25" y="1906312"/>
            <a:ext cx="3222555" cy="244623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3DC3485-5139-70D3-547C-F47322AEE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58" y="2116836"/>
            <a:ext cx="3360421" cy="21959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AF4333A-7E4B-080B-5B5E-740CCBBDB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7" y="1882556"/>
            <a:ext cx="3316037" cy="205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18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987552"/>
          </a:xfrm>
          <a:prstGeom prst="roundRect">
            <a:avLst/>
          </a:prstGeom>
          <a:solidFill>
            <a:srgbClr val="1D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/>
              <a:t>Insights from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4" y="356616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BF2FA"/>
                </a:solidFill>
              </a:defRPr>
            </a:pPr>
            <a:r>
              <a:t>O4–O5 | Viewing &amp; Retention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34440"/>
            <a:ext cx="3520440" cy="4892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80744"/>
            <a:ext cx="594360" cy="292608"/>
          </a:xfrm>
          <a:prstGeom prst="roundRect">
            <a:avLst/>
          </a:prstGeom>
          <a:solidFill>
            <a:srgbClr val="2B7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35331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1C395B"/>
                </a:solidFill>
              </a:defRPr>
            </a:pPr>
            <a:r>
              <a:t>Viewing Sessions by Device</a:t>
            </a:r>
          </a:p>
        </p:txBody>
      </p:sp>
      <p:pic>
        <p:nvPicPr>
          <p:cNvPr id="9" name="Picture 8" descr="40c2309c-feb3-4e08-8e8b-a326d6a90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2808"/>
            <a:ext cx="315468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8" y="4160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B70C4"/>
                </a:solidFill>
              </a:defRPr>
            </a:pPr>
            <a:r>
              <a:t>KEY EDA FINDING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31821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4617720"/>
            <a:ext cx="2907792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40" b="1">
                <a:solidFill>
                  <a:srgbClr val="1C395B"/>
                </a:solidFill>
              </a:defRPr>
            </a:pPr>
            <a:r>
              <a:t>Smart TV recorded the highest viewing activity with 7,800 sessions, followed by Mobile, Tablet and Laptop.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34440"/>
            <a:ext cx="3520440" cy="4892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07992" y="1380744"/>
            <a:ext cx="594360" cy="292608"/>
          </a:xfrm>
          <a:prstGeom prst="roundRect">
            <a:avLst/>
          </a:prstGeom>
          <a:solidFill>
            <a:srgbClr val="E66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135331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1C395B"/>
                </a:solidFill>
              </a:defRPr>
            </a:pPr>
            <a:r>
              <a:t>Viewing Sessions by Time of Day</a:t>
            </a:r>
          </a:p>
        </p:txBody>
      </p:sp>
      <p:pic>
        <p:nvPicPr>
          <p:cNvPr id="17" name="Picture 16" descr="c50faf3b-c207-46f3-a3da-7002d968b0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92808"/>
            <a:ext cx="3154680" cy="2148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0" y="4160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E66815"/>
                </a:solidFill>
              </a:defRPr>
            </a:pPr>
            <a:r>
              <a:t>KEY EDA FINDING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7992" y="4434840"/>
            <a:ext cx="31821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8" y="4617720"/>
            <a:ext cx="2907792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40" b="1">
                <a:solidFill>
                  <a:srgbClr val="1C395B"/>
                </a:solidFill>
              </a:defRPr>
            </a:pPr>
            <a:r>
              <a:t>Evening was the peak viewing period with 7,554 sessions, while Afternoon recorded the lowest activity.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234440"/>
            <a:ext cx="3520440" cy="4892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84464" y="1380744"/>
            <a:ext cx="594360" cy="292608"/>
          </a:xfrm>
          <a:prstGeom prst="roundRect">
            <a:avLst/>
          </a:prstGeom>
          <a:solidFill>
            <a:srgbClr val="1F8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35331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1C395B"/>
                </a:solidFill>
              </a:defRPr>
            </a:pPr>
            <a:r>
              <a:t>Churn Rate by Subscription Plan</a:t>
            </a:r>
          </a:p>
        </p:txBody>
      </p:sp>
      <p:pic>
        <p:nvPicPr>
          <p:cNvPr id="25" name="Picture 24" descr="e98746de-8f0a-4473-a67b-c22268c22e8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892808"/>
            <a:ext cx="3154680" cy="2148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48472" y="4160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F8B65"/>
                </a:solidFill>
              </a:defRPr>
            </a:pPr>
            <a:r>
              <a:t>KEY EDA FINDING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4434840"/>
            <a:ext cx="31821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4617720"/>
            <a:ext cx="2907792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40" b="1">
                <a:solidFill>
                  <a:srgbClr val="1C395B"/>
                </a:solidFill>
              </a:defRPr>
            </a:pPr>
            <a:r>
              <a:t>Free Trial had the highest observed churn at 70.93%, while Premium had the lowest at 18.97%.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0C328E-10C5-CDE6-6842-2E0DC9516F48}"/>
              </a:ext>
            </a:extLst>
          </p:cNvPr>
          <p:cNvSpPr txBox="1"/>
          <p:nvPr/>
        </p:nvSpPr>
        <p:spPr>
          <a:xfrm>
            <a:off x="11306385" y="6583680"/>
            <a:ext cx="3064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74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6096" y="13716"/>
            <a:ext cx="12192000" cy="987552"/>
          </a:xfrm>
          <a:prstGeom prst="roundRect">
            <a:avLst/>
          </a:prstGeom>
          <a:solidFill>
            <a:srgbClr val="1D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30936" y="23774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/>
              <a:t>Insights from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48472" y="3703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EBF2FA"/>
                </a:solidFill>
              </a:defRPr>
            </a:pPr>
            <a:r>
              <a:rPr dirty="0"/>
              <a:t>O6 &amp; Overall EDA | Ratings, Feedback &amp; </a:t>
            </a:r>
            <a:r>
              <a:rPr dirty="0" err="1"/>
              <a:t>Behaviour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66928" y="1234440"/>
            <a:ext cx="352044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1387430"/>
            <a:ext cx="594360" cy="292608"/>
          </a:xfrm>
          <a:prstGeom prst="roundRect">
            <a:avLst/>
          </a:prstGeom>
          <a:solidFill>
            <a:srgbClr val="2B7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O6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35331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1C395B"/>
                </a:solidFill>
              </a:defRPr>
            </a:pPr>
            <a:r>
              <a:t>Feedback Distribution</a:t>
            </a:r>
          </a:p>
        </p:txBody>
      </p:sp>
      <p:sp>
        <p:nvSpPr>
          <p:cNvPr id="11" name="Oval 10"/>
          <p:cNvSpPr/>
          <p:nvPr/>
        </p:nvSpPr>
        <p:spPr>
          <a:xfrm>
            <a:off x="1975104" y="2596896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4160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B70C4"/>
                </a:solidFill>
              </a:defRPr>
            </a:pPr>
            <a:r>
              <a:t>KEY EDA FINDING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31821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4617720"/>
            <a:ext cx="2907792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0" b="1">
                <a:solidFill>
                  <a:srgbClr val="1C395B"/>
                </a:solidFill>
              </a:defRPr>
            </a:pPr>
            <a:r>
              <a:t>Positive feedback was the largest category with 4,836 responses (40.30%), while Negative feedback was also significant with 4,730 responses (39.42%).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234440"/>
            <a:ext cx="352044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90288" y="1421892"/>
            <a:ext cx="594360" cy="292608"/>
          </a:xfrm>
          <a:prstGeom prst="roundRect">
            <a:avLst/>
          </a:prstGeom>
          <a:solidFill>
            <a:srgbClr val="E66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648" y="135331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1C395B"/>
                </a:solidFill>
              </a:defRPr>
            </a:pPr>
            <a:r>
              <a:t>Rating vs Completion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160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E66815"/>
                </a:solidFill>
              </a:defRPr>
            </a:pPr>
            <a:r>
              <a:t>KEY EDA FINDING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07992" y="4434840"/>
            <a:ext cx="31821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36008" y="4617720"/>
            <a:ext cx="2907792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0" b="1">
                <a:solidFill>
                  <a:srgbClr val="1C395B"/>
                </a:solidFill>
              </a:defRPr>
            </a:pPr>
            <a:r>
              <a:t>The chart shows the observed relationship between viewer rating and completion; it does not establish causation.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9872" y="1234440"/>
            <a:ext cx="352044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348472" y="1420122"/>
            <a:ext cx="594360" cy="292608"/>
          </a:xfrm>
          <a:prstGeom prst="roundRect">
            <a:avLst/>
          </a:prstGeom>
          <a:solidFill>
            <a:srgbClr val="1F8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135331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1C395B"/>
                </a:solidFill>
              </a:defRPr>
            </a:pPr>
            <a:r>
              <a:t>Viewing Behaviour Correlation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8472" y="4160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F8B65"/>
                </a:solidFill>
              </a:defRPr>
            </a:pPr>
            <a:r>
              <a:t>KEY EDA FINDING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84464" y="4434840"/>
            <a:ext cx="31821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412480" y="4617720"/>
            <a:ext cx="2907792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0" b="1">
                <a:solidFill>
                  <a:srgbClr val="1C395B"/>
                </a:solidFill>
              </a:defRPr>
            </a:pPr>
            <a:r>
              <a:t>The heatmap highlights the strength and direction of relationships among Watch Duration, Completion % and Paused Times. These relationships are exploratory.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AE56C291-C3C1-8880-D7C4-81F49F2F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49" y="1938528"/>
            <a:ext cx="3251557" cy="201168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0B93A0B-E6E7-3546-A049-64B5169D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2043684"/>
            <a:ext cx="3358898" cy="2046434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D4DF315-E462-6CA1-A196-1D938FEA1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852" y="1947672"/>
            <a:ext cx="3311335" cy="20625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1D213F-BEC2-CD85-4650-7675023E6C89}"/>
              </a:ext>
            </a:extLst>
          </p:cNvPr>
          <p:cNvSpPr txBox="1"/>
          <p:nvPr/>
        </p:nvSpPr>
        <p:spPr>
          <a:xfrm>
            <a:off x="11306385" y="6583680"/>
            <a:ext cx="3064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74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50"/>
                </a:solidFill>
                <a:latin typeface="Aptos Display"/>
              </a:defRPr>
            </a:pPr>
            <a:r>
              <a:t>POWER BI DASHBOARD – WORKING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ptos"/>
              </a:defRPr>
            </a:pPr>
            <a:r>
              <a:t>Interactive filtering | Cross-filtering | Objective-wise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7406640" cy="4434840"/>
          </a:xfrm>
          <a:prstGeom prst="roundRect">
            <a:avLst/>
          </a:prstGeom>
          <a:solidFill>
            <a:srgbClr val="E7F3E1"/>
          </a:solidFill>
          <a:ln w="19050">
            <a:solidFill>
              <a:srgbClr val="1E5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5400000">
            <a:off x="4041648" y="3054096"/>
            <a:ext cx="502920" cy="685800"/>
          </a:xfrm>
          <a:prstGeom prst="triangl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337560" cy="44348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2D50"/>
                </a:solidFill>
                <a:latin typeface="Aptos Display"/>
              </a:defRPr>
            </a:pPr>
            <a:r>
              <a:t>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882484"/>
            <a:ext cx="295351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30K viewing sessions</a:t>
            </a:r>
            <a:r>
              <a:rPr lang="en-IN" sz="1200" dirty="0"/>
              <a:t> were analysed, with an average watch duration of </a:t>
            </a:r>
            <a:r>
              <a:rPr lang="en-IN" sz="1200" b="1" dirty="0"/>
              <a:t>181 minutes</a:t>
            </a:r>
            <a:r>
              <a:rPr lang="en-IN" sz="1200" dirty="0"/>
              <a:t> and average completion of </a:t>
            </a:r>
            <a:r>
              <a:rPr lang="en-IN" sz="1200" b="1" dirty="0"/>
              <a:t>52.36%</a:t>
            </a:r>
            <a:r>
              <a:rPr lang="en-IN" sz="1200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Smart TV recorded the highest viewing activity</a:t>
            </a:r>
            <a:r>
              <a:rPr lang="en-IN" sz="1200" dirty="0"/>
              <a:t> with approximately </a:t>
            </a:r>
            <a:r>
              <a:rPr lang="en-IN" sz="1200" b="1" dirty="0"/>
              <a:t>7.8K sessions</a:t>
            </a:r>
            <a:r>
              <a:rPr lang="en-IN" sz="1200" dirty="0"/>
              <a:t>, while </a:t>
            </a:r>
            <a:r>
              <a:rPr lang="en-IN" sz="1200" b="1" dirty="0"/>
              <a:t>Evening</a:t>
            </a:r>
            <a:r>
              <a:rPr lang="en-IN" sz="1200" dirty="0"/>
              <a:t> was the highest viewing period.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Premium users showed stronger retention</a:t>
            </a:r>
            <a:r>
              <a:rPr lang="en-IN" sz="1200" dirty="0"/>
              <a:t>, with </a:t>
            </a:r>
            <a:r>
              <a:rPr lang="en-IN" sz="1200" b="1" dirty="0"/>
              <a:t>81.03% renewal and 18.97% churn</a:t>
            </a:r>
            <a:r>
              <a:rPr lang="en-IN" sz="1200" dirty="0"/>
              <a:t>, compared with Basic and Free Trial users.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 err="1"/>
              <a:t>AmazonPrime</a:t>
            </a:r>
            <a:r>
              <a:rPr lang="en-IN" sz="1200" b="1" dirty="0"/>
              <a:t> showed the highest average content popularity</a:t>
            </a:r>
            <a:r>
              <a:rPr lang="en-IN" sz="1200" dirty="0"/>
              <a:t>, while the dashboard allows comparison of content performance across platforms and content types.</a:t>
            </a:r>
          </a:p>
        </p:txBody>
      </p:sp>
      <p:pic>
        <p:nvPicPr>
          <p:cNvPr id="13" name="dashboard">
            <a:hlinkClick r:id="" action="ppaction://media"/>
            <a:extLst>
              <a:ext uri="{FF2B5EF4-FFF2-40B4-BE49-F238E27FC236}">
                <a16:creationId xmlns:a16="http://schemas.microsoft.com/office/drawing/2014/main" id="{0BB196C6-3C02-41F4-BA94-C06219B302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3266" y="1602165"/>
            <a:ext cx="6673557" cy="36536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3DA70B-EB0D-7752-BE65-40B3DD20258E}"/>
              </a:ext>
            </a:extLst>
          </p:cNvPr>
          <p:cNvSpPr txBox="1"/>
          <p:nvPr/>
        </p:nvSpPr>
        <p:spPr>
          <a:xfrm>
            <a:off x="786580" y="5903879"/>
            <a:ext cx="98814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Dashboard takeaway: Interactive views help compare viewing behaviour, customer retention and content performance across key business segments.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623F11-B562-32D2-50DA-CE5B0AA85F16}"/>
              </a:ext>
            </a:extLst>
          </p:cNvPr>
          <p:cNvSpPr txBox="1"/>
          <p:nvPr/>
        </p:nvSpPr>
        <p:spPr>
          <a:xfrm>
            <a:off x="11306385" y="6583680"/>
            <a:ext cx="3064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74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033"/>
    </mc:Choice>
    <mc:Fallback xmlns="">
      <p:transition spd="slow" advTm="1580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803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D452EE-68AE-0617-75EB-190E359B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052" y="6474334"/>
            <a:ext cx="395748" cy="365125"/>
          </a:xfrm>
        </p:spPr>
        <p:txBody>
          <a:bodyPr/>
          <a:lstStyle/>
          <a:p>
            <a:fld id="{B4A918BC-4D43-4B42-B3C0-E7EBE25E6AF0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E0DB8E-F212-233C-0FDC-77DFF4E48D56}"/>
              </a:ext>
            </a:extLst>
          </p:cNvPr>
          <p:cNvSpPr txBox="1">
            <a:spLocks/>
          </p:cNvSpPr>
          <p:nvPr/>
        </p:nvSpPr>
        <p:spPr>
          <a:xfrm>
            <a:off x="466049" y="219134"/>
            <a:ext cx="10380573" cy="6311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Statistical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49B7A-B483-9A5D-44C2-1DBA76A14B04}"/>
              </a:ext>
            </a:extLst>
          </p:cNvPr>
          <p:cNvSpPr txBox="1"/>
          <p:nvPr/>
        </p:nvSpPr>
        <p:spPr>
          <a:xfrm>
            <a:off x="594360" y="5087233"/>
            <a:ext cx="10643911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sz="1050" dirty="0">
                <a:latin typeface="Abadi" panose="020B0604020104020204" pitchFamily="34" charset="0"/>
              </a:rPr>
              <a:t>Movie completion (53.22%) is statistically higher than TV Show completion (50.04%) in this sample.</a:t>
            </a:r>
          </a:p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sz="1050" dirty="0">
                <a:latin typeface="Abadi" panose="020B0604020104020204" pitchFamily="34" charset="0"/>
              </a:rPr>
              <a:t>Free Trial churn (70.93%) is statistically higher than Paid churn (30.71%).</a:t>
            </a:r>
          </a:p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sz="1050" dirty="0">
                <a:latin typeface="Abadi" panose="020B0604020104020204" pitchFamily="34" charset="0"/>
              </a:rPr>
              <a:t>Content age, engagement vs churn, rating vs completion and rating vs rewatch were not statistically supported in these tests.</a:t>
            </a:r>
          </a:p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sz="1050" dirty="0">
                <a:latin typeface="Abadi" panose="020B0604020104020204" pitchFamily="34" charset="0"/>
              </a:rPr>
              <a:t>Statistical significance supports evidence of a difference/relationship; it does not establish causality.</a:t>
            </a:r>
          </a:p>
          <a:p>
            <a:pPr>
              <a:spcAft>
                <a:spcPts val="1000"/>
              </a:spcAft>
              <a:defRPr sz="1700" b="0">
                <a:solidFill>
                  <a:srgbClr val="262D34"/>
                </a:solidFill>
              </a:defRPr>
            </a:pPr>
            <a:r>
              <a:rPr sz="1050" dirty="0">
                <a:latin typeface="Abadi" panose="020B0604020104020204" pitchFamily="34" charset="0"/>
              </a:rPr>
              <a:t>Use descriptive patterns for exploration and validated results for stronger business claims.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AA2C7D7C-E066-B215-A1AA-D682AB7CACD9}"/>
              </a:ext>
            </a:extLst>
          </p:cNvPr>
          <p:cNvSpPr/>
          <p:nvPr/>
        </p:nvSpPr>
        <p:spPr>
          <a:xfrm>
            <a:off x="594360" y="1124712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A37620-ABB7-62F7-2177-D70427BA924B}"/>
              </a:ext>
            </a:extLst>
          </p:cNvPr>
          <p:cNvSpPr/>
          <p:nvPr/>
        </p:nvSpPr>
        <p:spPr>
          <a:xfrm>
            <a:off x="594360" y="1124712"/>
            <a:ext cx="64008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9E368-5849-627A-6A13-DF7EADEF321A}"/>
              </a:ext>
            </a:extLst>
          </p:cNvPr>
          <p:cNvSpPr txBox="1"/>
          <p:nvPr/>
        </p:nvSpPr>
        <p:spPr>
          <a:xfrm>
            <a:off x="777240" y="1261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707A"/>
                </a:solidFill>
                <a:latin typeface="Aptos"/>
              </a:defRPr>
            </a:pPr>
            <a:r>
              <a:t>T-TEST | MOVIES VS TV SHOWS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5A5918-D830-1FE0-7BB7-7EAD77DC9CF1}"/>
              </a:ext>
            </a:extLst>
          </p:cNvPr>
          <p:cNvSpPr txBox="1"/>
          <p:nvPr/>
        </p:nvSpPr>
        <p:spPr>
          <a:xfrm>
            <a:off x="777240" y="151790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743"/>
                </a:solidFill>
                <a:latin typeface="Aptos"/>
              </a:defRPr>
            </a:pPr>
            <a:r>
              <a:rPr dirty="0"/>
              <a:t>t = 8.5933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34C22E-966D-42DF-51CD-D76E56D3DC68}"/>
              </a:ext>
            </a:extLst>
          </p:cNvPr>
          <p:cNvSpPr txBox="1"/>
          <p:nvPr/>
        </p:nvSpPr>
        <p:spPr>
          <a:xfrm>
            <a:off x="777240" y="21579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707A"/>
                </a:solidFill>
                <a:latin typeface="Aptos"/>
              </a:defRPr>
            </a:pPr>
            <a:r>
              <a:t>p = 9.32e-18 → Reject H0</a:t>
            </a:r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05D7980A-0A89-33BF-B6F0-A56B8C3506E5}"/>
              </a:ext>
            </a:extLst>
          </p:cNvPr>
          <p:cNvSpPr/>
          <p:nvPr/>
        </p:nvSpPr>
        <p:spPr>
          <a:xfrm>
            <a:off x="6217920" y="1124712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D26EE7-9B7D-8485-C527-04341A2D47CC}"/>
              </a:ext>
            </a:extLst>
          </p:cNvPr>
          <p:cNvSpPr/>
          <p:nvPr/>
        </p:nvSpPr>
        <p:spPr>
          <a:xfrm>
            <a:off x="6217920" y="1124712"/>
            <a:ext cx="64008" cy="1417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6812C8-7FAB-8910-0B43-6BA9D6413E75}"/>
              </a:ext>
            </a:extLst>
          </p:cNvPr>
          <p:cNvSpPr txBox="1"/>
          <p:nvPr/>
        </p:nvSpPr>
        <p:spPr>
          <a:xfrm>
            <a:off x="6400800" y="1261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707A"/>
                </a:solidFill>
                <a:latin typeface="Aptos"/>
              </a:defRPr>
            </a:pPr>
            <a:r>
              <a:t>Z-TEST | FREE TRIAL VS PAID CHURN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B5CB6E-EFB3-F379-7B7D-4341C7E19A5A}"/>
              </a:ext>
            </a:extLst>
          </p:cNvPr>
          <p:cNvSpPr txBox="1"/>
          <p:nvPr/>
        </p:nvSpPr>
        <p:spPr>
          <a:xfrm>
            <a:off x="6400800" y="151790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743"/>
                </a:solidFill>
                <a:latin typeface="Aptos"/>
              </a:defRPr>
            </a:pPr>
            <a:r>
              <a:t>z = 17.1551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69683E-2341-0906-1210-0A77FA980A9E}"/>
              </a:ext>
            </a:extLst>
          </p:cNvPr>
          <p:cNvSpPr txBox="1"/>
          <p:nvPr/>
        </p:nvSpPr>
        <p:spPr>
          <a:xfrm>
            <a:off x="6400800" y="21579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707A"/>
                </a:solidFill>
                <a:latin typeface="Aptos"/>
              </a:defRPr>
            </a:pPr>
            <a:r>
              <a:t>p = 5.75e-66 → Reject H0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21AEDF0-5B12-236A-5853-C4DED7BA5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821331"/>
              </p:ext>
            </p:extLst>
          </p:nvPr>
        </p:nvGraphicFramePr>
        <p:xfrm>
          <a:off x="594360" y="2853331"/>
          <a:ext cx="10972800" cy="199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48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8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Business question</a:t>
                      </a:r>
                    </a:p>
                  </a:txBody>
                  <a:tcPr>
                    <a:solidFill>
                      <a:srgbClr val="18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8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827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48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rPr dirty="0"/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Movies vs TV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Reject H0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53.22% vs 50.04%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48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Content age vs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Fail to reject H0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r = 0.0008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48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Engagement vs churn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Fail to reject H0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χ² = 0.6703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48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H4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₹0 vs paid churn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Reject H0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70.93% vs 30.71%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48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Rating vs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Fail to reject H0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r = -0.0115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4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rPr dirty="0"/>
                        <a:t>H6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Rating vs rewatch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t>Fail to reject H0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E"/>
                          </a:solidFill>
                        </a:defRPr>
                      </a:pPr>
                      <a:r>
                        <a:rPr dirty="0"/>
                        <a:t>r = 0.0079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379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Machine Learning Models’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67512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Phase 9 | Simple Linear Regression: Can Content Duration predict Watch Duration?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3063240" cy="4343400"/>
          </a:xfrm>
          <a:prstGeom prst="roundRect">
            <a:avLst/>
          </a:prstGeom>
          <a:solidFill>
            <a:srgbClr val="F2F6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2560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45920"/>
            <a:ext cx="2606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8" y="1746504"/>
            <a:ext cx="25603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28216"/>
            <a:ext cx="1920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Feature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84248"/>
            <a:ext cx="1920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SelectKBest + f_regression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78024"/>
            <a:ext cx="2606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25603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1920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Selected Predictor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16352"/>
            <a:ext cx="1920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Duration_Minutes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310128"/>
            <a:ext cx="2606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3410712"/>
            <a:ext cx="25603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92424"/>
            <a:ext cx="1920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48456"/>
            <a:ext cx="1920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Simple Linear Regression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42232"/>
            <a:ext cx="2606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" y="4242816"/>
            <a:ext cx="25603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24528"/>
            <a:ext cx="1920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80560"/>
            <a:ext cx="1920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R²  •  MAE  •  RMSE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22191" y="1078992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50207" y="1170432"/>
            <a:ext cx="1709928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TEST R²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7" y="1408176"/>
            <a:ext cx="170992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74.23%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7" y="1792224"/>
            <a:ext cx="170992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Variation explained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1078992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71616" y="1170432"/>
            <a:ext cx="1709928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1616" y="1408176"/>
            <a:ext cx="170992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10916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88.61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616" y="1792224"/>
            <a:ext cx="170992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Typical absolute 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1078992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93024" y="1170432"/>
            <a:ext cx="1709928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RMSE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4" y="1408176"/>
            <a:ext cx="170992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E6691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218.46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1792224"/>
            <a:ext cx="170992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Larger errors weighted more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22191" y="2359152"/>
            <a:ext cx="6208776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23360" y="2487168"/>
            <a:ext cx="5806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CONTENT DURATION VS WATCH DURATION</a:t>
            </a:r>
          </a:p>
        </p:txBody>
      </p:sp>
      <p:pic>
        <p:nvPicPr>
          <p:cNvPr id="36" name="Picture 35" descr="duration_vs_watch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2761488"/>
            <a:ext cx="5833872" cy="248716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0222992" y="1078992"/>
            <a:ext cx="1463040" cy="4343400"/>
          </a:xfrm>
          <a:prstGeom prst="roundRect">
            <a:avLst/>
          </a:prstGeom>
          <a:solidFill>
            <a:srgbClr val="F2F6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369296" y="1261872"/>
            <a:ext cx="117043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REGRESSION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51008" y="1673352"/>
            <a:ext cx="1207008" cy="8046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Ŷ = 1.1354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+ 0.5049 ×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Duration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0152" y="2743200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1937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KEY FINDING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3090672"/>
            <a:ext cx="1225296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Duration is the strongest single predictor of watch duration.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Association ≠ causation.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00099" y="5687568"/>
            <a:ext cx="9028571" cy="950975"/>
          </a:xfrm>
          <a:prstGeom prst="roundRect">
            <a:avLst/>
          </a:prstGeom>
          <a:solidFill>
            <a:srgbClr val="EEF7F2"/>
          </a:solidFill>
          <a:ln>
            <a:solidFill>
              <a:srgbClr val="BE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822310" y="6130168"/>
            <a:ext cx="1156863" cy="1985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10916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BUSINESS 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50363" y="5916168"/>
            <a:ext cx="6446520" cy="5909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Estimate expected watch duration</a:t>
            </a:r>
            <a:r>
              <a:rPr lang="en-IN" sz="1200" dirty="0"/>
              <a:t> for new content based on its duration.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Support content planning and scheduling</a:t>
            </a:r>
            <a:r>
              <a:rPr lang="en-IN" sz="1200" dirty="0"/>
              <a:t> using predicted viewing time.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Use predictions as a benchmark</a:t>
            </a:r>
            <a:r>
              <a:rPr lang="en-IN" sz="1200" dirty="0"/>
              <a:t>, together with genre, platform, device and audience factors.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8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5A5A5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0">
                <a:solidFill>
                  <a:srgbClr val="232323"/>
                </a:solidFill>
                <a:latin typeface="Aptos"/>
              </a:rPr>
              <a:t>Regression Diagnostics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67512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Aptos"/>
              </a:rPr>
              <a:t>Phase 9 | Actual vs Predicted performance and residual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5532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50749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9375F"/>
                </a:solidFill>
                <a:latin typeface="Aptos"/>
              </a:rPr>
              <a:t>ACTUAL VS PREDICTED WATCH DURATION</a:t>
            </a:r>
          </a:p>
        </p:txBody>
      </p:sp>
      <p:pic>
        <p:nvPicPr>
          <p:cNvPr id="6" name="Picture 5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81912"/>
            <a:ext cx="5193792" cy="3182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53912" y="1097280"/>
            <a:ext cx="5532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64224" y="1261872"/>
            <a:ext cx="50749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9375F"/>
                </a:solidFill>
                <a:latin typeface="Aptos"/>
              </a:rPr>
              <a:t>RESIDUALS VS PREDICTED</a:t>
            </a:r>
          </a:p>
        </p:txBody>
      </p:sp>
      <p:pic>
        <p:nvPicPr>
          <p:cNvPr id="9" name="Picture 8" descr="residuals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581912"/>
            <a:ext cx="5193792" cy="31821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5321808"/>
            <a:ext cx="11183112" cy="822960"/>
          </a:xfrm>
          <a:prstGeom prst="roundRect">
            <a:avLst/>
          </a:prstGeom>
          <a:solidFill>
            <a:srgbClr val="F2F6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5468112"/>
            <a:ext cx="1371600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dirty="0">
                <a:solidFill>
                  <a:srgbClr val="19375F"/>
                </a:solidFill>
                <a:latin typeface="Aptos"/>
              </a:rPr>
              <a:t>DIAGNOSTIC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5503704"/>
            <a:ext cx="928116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IN" sz="1200" dirty="0"/>
              <a:t>We checked whether the regression errors were consistent. The test found unequal error spread, so we used HC3 robust standard errors to make the results more reliable.</a:t>
            </a:r>
            <a:endParaRPr sz="1200" b="0" dirty="0">
              <a:solidFill>
                <a:srgbClr val="23232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dirty="0">
                <a:solidFill>
                  <a:srgbClr val="5A5A5A"/>
                </a:solidFill>
                <a:latin typeface="Aptos"/>
              </a:rPr>
              <a:t>1</a:t>
            </a:r>
            <a:r>
              <a:rPr lang="en-US" sz="800" b="0" dirty="0">
                <a:solidFill>
                  <a:srgbClr val="5A5A5A"/>
                </a:solidFill>
                <a:latin typeface="Aptos"/>
              </a:rPr>
              <a:t>9</a:t>
            </a:r>
            <a:endParaRPr sz="800" b="0" dirty="0">
              <a:solidFill>
                <a:srgbClr val="5A5A5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5486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0">
                <a:solidFill>
                  <a:srgbClr val="19375F"/>
                </a:solidFill>
                <a:latin typeface="Apto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6858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 dirty="0">
                <a:solidFill>
                  <a:srgbClr val="5C6775"/>
                </a:solidFill>
                <a:latin typeface="Aptos"/>
              </a:rPr>
              <a:t>Objective-wise key findings from the complete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146835"/>
            <a:ext cx="868680" cy="45720"/>
          </a:xfrm>
          <a:prstGeom prst="rect">
            <a:avLst/>
          </a:prstGeom>
          <a:solidFill>
            <a:srgbClr val="2B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685800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621792" cy="438912"/>
          </a:xfrm>
          <a:prstGeom prst="roundRect">
            <a:avLst/>
          </a:prstGeom>
          <a:solidFill>
            <a:srgbClr val="2B6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179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490472"/>
            <a:ext cx="2057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B67CD"/>
                </a:solidFill>
                <a:latin typeface="Aptos"/>
              </a:rPr>
              <a:t>CONTENT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1490472"/>
            <a:ext cx="7635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03946"/>
                </a:solidFill>
                <a:latin typeface="Aptos"/>
              </a:rPr>
              <a:t>Movies showed higher average completion than TV Shows (53.22% vs 50.04%).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12848"/>
            <a:ext cx="10835640" cy="685800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621792" cy="438912"/>
          </a:xfrm>
          <a:prstGeom prst="roundRect">
            <a:avLst/>
          </a:prstGeom>
          <a:solidFill>
            <a:srgbClr val="16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62179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286000"/>
            <a:ext cx="2057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69169"/>
                </a:solidFill>
                <a:latin typeface="Aptos"/>
              </a:rPr>
              <a:t>PLATFORM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286000"/>
            <a:ext cx="7635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03946"/>
                </a:solidFill>
                <a:latin typeface="Aptos"/>
              </a:rPr>
              <a:t>NetStream recorded the highest viewing activity with 14,174 sessions.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08376"/>
            <a:ext cx="10835640" cy="685800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3127248"/>
            <a:ext cx="621792" cy="438912"/>
          </a:xfrm>
          <a:prstGeom prst="roundRect">
            <a:avLst/>
          </a:prstGeom>
          <a:solidFill>
            <a:srgbClr val="188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127248"/>
            <a:ext cx="62179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081528"/>
            <a:ext cx="2057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8097"/>
                </a:solidFill>
                <a:latin typeface="Aptos"/>
              </a:rPr>
              <a:t>AUDIENCE BEHAVIOUR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3081528"/>
            <a:ext cx="7635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03946"/>
                </a:solidFill>
                <a:latin typeface="Aptos"/>
              </a:rPr>
              <a:t>The 50+ age group contributed the highest viewing activity with 7,635 sessions.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03904"/>
            <a:ext cx="10835640" cy="685800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3922776"/>
            <a:ext cx="621792" cy="438912"/>
          </a:xfrm>
          <a:prstGeom prst="roundRect">
            <a:avLst/>
          </a:prstGeom>
          <a:solidFill>
            <a:srgbClr val="6F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922776"/>
            <a:ext cx="62179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3877056"/>
            <a:ext cx="2057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F3FB5"/>
                </a:solidFill>
                <a:latin typeface="Aptos"/>
              </a:rPr>
              <a:t>DEVICE &amp; TIME 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3877056"/>
            <a:ext cx="7635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03946"/>
                </a:solidFill>
                <a:latin typeface="Aptos"/>
              </a:rPr>
              <a:t>Smart TV was the most-used device, while Evening had the highest viewing activity.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99432"/>
            <a:ext cx="10835640" cy="685800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" y="4718304"/>
            <a:ext cx="621792" cy="438912"/>
          </a:xfrm>
          <a:prstGeom prst="roundRect">
            <a:avLst/>
          </a:prstGeom>
          <a:solidFill>
            <a:srgbClr val="E75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718304"/>
            <a:ext cx="62179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4672584"/>
            <a:ext cx="2057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75B16"/>
                </a:solidFill>
                <a:latin typeface="Aptos"/>
              </a:rPr>
              <a:t>RETENTION &amp; CHURN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4672584"/>
            <a:ext cx="7635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03946"/>
                </a:solidFill>
                <a:latin typeface="Aptos"/>
              </a:rPr>
              <a:t>Free Trial churn was substantially higher than Paid churn (70.93% vs 30.71%).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394959"/>
            <a:ext cx="10835640" cy="685800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2960" y="5513831"/>
            <a:ext cx="621792" cy="438912"/>
          </a:xfrm>
          <a:prstGeom prst="roundRect">
            <a:avLst/>
          </a:prstGeom>
          <a:solidFill>
            <a:srgbClr val="CD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513831"/>
            <a:ext cx="62179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8488" y="5468112"/>
            <a:ext cx="2057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D2D69"/>
                </a:solidFill>
                <a:latin typeface="Aptos"/>
              </a:rPr>
              <a:t>RATINGS &amp; 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8728" y="5468112"/>
            <a:ext cx="7635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03946"/>
                </a:solidFill>
                <a:latin typeface="Aptos"/>
              </a:rPr>
              <a:t>Rating showed no statistically significant relationship with completion or rewatch behaviour.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6254496"/>
            <a:ext cx="10835640" cy="365760"/>
          </a:xfrm>
          <a:prstGeom prst="roundRect">
            <a:avLst/>
          </a:prstGeom>
          <a:solidFill>
            <a:srgbClr val="EAF0F8"/>
          </a:solidFill>
          <a:ln>
            <a:solidFill>
              <a:srgbClr val="C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6272784"/>
            <a:ext cx="10469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19375F"/>
                </a:solidFill>
                <a:latin typeface="Aptos"/>
              </a:rPr>
              <a:t>Overall: Retention is the strongest business priority; other findings support content, platform, audience and viewing optimization.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21357" y="6609271"/>
            <a:ext cx="300083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n-US" sz="850" dirty="0">
                <a:solidFill>
                  <a:srgbClr val="5C6775"/>
                </a:solidFill>
                <a:latin typeface="Aptos"/>
              </a:rPr>
              <a:t>20</a:t>
            </a:r>
            <a:endParaRPr sz="850" b="0" dirty="0">
              <a:solidFill>
                <a:srgbClr val="5C67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8365B"/>
                </a:solidFill>
                <a:latin typeface="Aptos"/>
              </a:rPr>
              <a:t>Business Implementation / Suggestion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F6976"/>
                </a:solidFill>
                <a:latin typeface="Aptos"/>
              </a:rPr>
              <a:t>Turning project findings into actionable business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440680" cy="1965960"/>
          </a:xfrm>
          <a:prstGeom prst="roundRect">
            <a:avLst/>
          </a:prstGeom>
          <a:solidFill>
            <a:srgbClr val="F1F7FD"/>
          </a:solidFill>
          <a:ln>
            <a:solidFill>
              <a:srgbClr val="2D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508760"/>
            <a:ext cx="475488" cy="475488"/>
          </a:xfrm>
          <a:prstGeom prst="ellipse">
            <a:avLst/>
          </a:prstGeom>
          <a:solidFill>
            <a:srgbClr val="2D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586484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49047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70B4"/>
                </a:solidFill>
                <a:latin typeface="Aptos"/>
              </a:rPr>
              <a:t>Improve Free Trial → Paid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984248"/>
            <a:ext cx="450799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20">
                <a:solidFill>
                  <a:srgbClr val="1E2837"/>
                </a:solidFill>
                <a:latin typeface="Aptos"/>
              </a:defRPr>
            </a:pPr>
            <a:r>
              <a:t>• Free Trial churn is much higher than Paid churn.</a:t>
            </a:r>
          </a:p>
          <a:p>
            <a:pPr>
              <a:spcAft>
                <a:spcPts val="700"/>
              </a:spcAft>
              <a:defRPr sz="1220">
                <a:solidFill>
                  <a:srgbClr val="1E2837"/>
                </a:solidFill>
                <a:latin typeface="Aptos"/>
              </a:defRPr>
            </a:pPr>
            <a:r>
              <a:t>• Strengthen onboarding, personalized recommendations and trial-to-paid offers.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40680" cy="1965960"/>
          </a:xfrm>
          <a:prstGeom prst="roundRect">
            <a:avLst/>
          </a:prstGeom>
          <a:solidFill>
            <a:srgbClr val="F2F9F5"/>
          </a:solidFill>
          <a:ln>
            <a:solidFill>
              <a:srgbClr val="1F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36792" y="1508760"/>
            <a:ext cx="475488" cy="475488"/>
          </a:xfrm>
          <a:prstGeom prst="ellipse">
            <a:avLst/>
          </a:prstGeom>
          <a:solidFill>
            <a:srgbClr val="1F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586484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8" y="149047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895C"/>
                </a:solidFill>
                <a:latin typeface="Aptos"/>
              </a:rPr>
              <a:t>Optimize Content by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8" y="1984248"/>
            <a:ext cx="450799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20">
                <a:solidFill>
                  <a:srgbClr val="1E2837"/>
                </a:solidFill>
                <a:latin typeface="Aptos"/>
              </a:defRPr>
            </a:pPr>
            <a:r>
              <a:t>• Movies show higher completion than TV Shows.</a:t>
            </a:r>
          </a:p>
          <a:p>
            <a:pPr>
              <a:spcAft>
                <a:spcPts val="700"/>
              </a:spcAft>
              <a:defRPr sz="1220">
                <a:solidFill>
                  <a:srgbClr val="1E2837"/>
                </a:solidFill>
                <a:latin typeface="Aptos"/>
              </a:defRPr>
            </a:pPr>
            <a:r>
              <a:t>• Prioritize content formats and genres with stronger completion and engagement.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5440680" cy="1965960"/>
          </a:xfrm>
          <a:prstGeom prst="roundRect">
            <a:avLst/>
          </a:prstGeom>
          <a:solidFill>
            <a:srgbClr val="FDF7EF"/>
          </a:solidFill>
          <a:ln>
            <a:solidFill>
              <a:srgbClr val="E07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58952" y="3703320"/>
            <a:ext cx="475488" cy="475488"/>
          </a:xfrm>
          <a:prstGeom prst="ellipse">
            <a:avLst/>
          </a:prstGeom>
          <a:solidFill>
            <a:srgbClr val="E0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3781044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68503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7E1A"/>
                </a:solidFill>
                <a:latin typeface="Aptos"/>
              </a:rPr>
              <a:t>Strengthen High-Usage Experiences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78808"/>
            <a:ext cx="450799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20">
                <a:solidFill>
                  <a:srgbClr val="1E2837"/>
                </a:solidFill>
                <a:latin typeface="Aptos"/>
              </a:defRPr>
            </a:pPr>
            <a:r>
              <a:t>• Smart TV and Evening have the highest viewing activity.</a:t>
            </a:r>
          </a:p>
          <a:p>
            <a:pPr>
              <a:spcAft>
                <a:spcPts val="700"/>
              </a:spcAft>
              <a:defRPr sz="1220">
                <a:solidFill>
                  <a:srgbClr val="1E2837"/>
                </a:solidFill>
                <a:latin typeface="Aptos"/>
              </a:defRPr>
            </a:pPr>
            <a:r>
              <a:t>• Optimize TV experience and promote content during peak viewing periods.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20440"/>
            <a:ext cx="5440680" cy="1965960"/>
          </a:xfrm>
          <a:prstGeom prst="roundRect">
            <a:avLst/>
          </a:prstGeom>
          <a:solidFill>
            <a:srgbClr val="F7F4FD"/>
          </a:solidFill>
          <a:ln>
            <a:solidFill>
              <a:srgbClr val="5B3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36792" y="3703320"/>
            <a:ext cx="475488" cy="475488"/>
          </a:xfrm>
          <a:prstGeom prst="ellipse">
            <a:avLst/>
          </a:prstGeom>
          <a:solidFill>
            <a:srgbClr val="5B3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3781044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368503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3E96"/>
                </a:solidFill>
                <a:latin typeface="Aptos"/>
              </a:rPr>
              <a:t>Use Data-Driven Content &amp; Retention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178808"/>
            <a:ext cx="450799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20">
                <a:solidFill>
                  <a:srgbClr val="1E2837"/>
                </a:solidFill>
                <a:latin typeface="Aptos"/>
              </a:defRPr>
            </a:pPr>
            <a:r>
              <a:t>• Combine platform, audience, viewing and feedback insights.</a:t>
            </a:r>
          </a:p>
          <a:p>
            <a:pPr>
              <a:spcAft>
                <a:spcPts val="700"/>
              </a:spcAft>
              <a:defRPr sz="1220">
                <a:solidFill>
                  <a:srgbClr val="1E2837"/>
                </a:solidFill>
                <a:latin typeface="Aptos"/>
              </a:defRPr>
            </a:pPr>
            <a:r>
              <a:t>• Use Power BI KPIs and predictive analysis for continuous decision-making.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80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5F6976"/>
                </a:solidFill>
                <a:latin typeface="Aptos"/>
              </a:rPr>
              <a:t>From Insight to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62968" y="6080760"/>
            <a:ext cx="557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0" dirty="0">
                <a:solidFill>
                  <a:srgbClr val="5F6976"/>
                </a:solidFill>
                <a:latin typeface="Aptos"/>
              </a:rPr>
              <a:t>2</a:t>
            </a:r>
            <a:r>
              <a:rPr sz="1000" b="0" dirty="0">
                <a:solidFill>
                  <a:srgbClr val="5F697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8365B"/>
                </a:solidFill>
                <a:latin typeface="Aptos"/>
              </a:rPr>
              <a:t>Business Implementation of Simple Linear Regression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F6976"/>
                </a:solidFill>
                <a:latin typeface="Aptos"/>
              </a:rPr>
              <a:t>Predicting viewer watch duration to support content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46177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365B"/>
                </a:solidFill>
                <a:latin typeface="Aptos"/>
              </a:rPr>
              <a:t>Actual vs Predicted Watch Duration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1234440"/>
            <a:ext cx="6263640" cy="1097280"/>
          </a:xfrm>
          <a:prstGeom prst="roundRect">
            <a:avLst/>
          </a:prstGeom>
          <a:solidFill>
            <a:srgbClr val="F1F7FD"/>
          </a:solidFill>
          <a:ln>
            <a:solidFill>
              <a:srgbClr val="2D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50407" y="1399032"/>
            <a:ext cx="5861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70B4"/>
                </a:solidFill>
                <a:latin typeface="Aptos"/>
              </a:rPr>
              <a:t>MODEL PURPOSE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0407" y="1764792"/>
            <a:ext cx="5861303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837"/>
                </a:solidFill>
                <a:latin typeface="Aptos"/>
              </a:rPr>
              <a:t>Predict viewer watch duration from content duration.
Input: Content Duration (minutes)  |  Output: Predicted Watch Duration (minutes)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2487168"/>
            <a:ext cx="6263640" cy="1234440"/>
          </a:xfrm>
          <a:prstGeom prst="roundRect">
            <a:avLst/>
          </a:prstGeom>
          <a:solidFill>
            <a:srgbClr val="F2F9F5"/>
          </a:solidFill>
          <a:ln>
            <a:solidFill>
              <a:srgbClr val="1F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50407" y="2651760"/>
            <a:ext cx="5861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895C"/>
                </a:solidFill>
                <a:latin typeface="Aptos"/>
              </a:rPr>
              <a:t>MODEL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0407" y="3017520"/>
            <a:ext cx="5861303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837"/>
                </a:solidFill>
                <a:latin typeface="Aptos"/>
              </a:rPr>
              <a:t>Predicted Watch Duration = 1.135 + 0.505 × Content Duration
R² = 74.23%   |   MAE = 88.61 minutes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3877056"/>
            <a:ext cx="6263640" cy="1234440"/>
          </a:xfrm>
          <a:prstGeom prst="roundRect">
            <a:avLst/>
          </a:prstGeom>
          <a:solidFill>
            <a:srgbClr val="FDF7EF"/>
          </a:solidFill>
          <a:ln>
            <a:solidFill>
              <a:srgbClr val="E07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50407" y="4041648"/>
            <a:ext cx="5861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7E1A"/>
                </a:solidFill>
                <a:latin typeface="Aptos"/>
              </a:rPr>
              <a:t>BUSINESS 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0407" y="4407408"/>
            <a:ext cx="5861303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837"/>
                </a:solidFill>
                <a:latin typeface="Aptos"/>
              </a:rPr>
              <a:t>• Estimate expected viewing time for new content.
• Support content planning and scheduling.
• Identify content likely to generate higher watch duration.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49240" y="5266944"/>
            <a:ext cx="6263640" cy="768096"/>
          </a:xfrm>
          <a:prstGeom prst="roundRect">
            <a:avLst/>
          </a:prstGeom>
          <a:solidFill>
            <a:srgbClr val="F7F4FD"/>
          </a:solidFill>
          <a:ln>
            <a:solidFill>
              <a:srgbClr val="5B3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50407" y="5431536"/>
            <a:ext cx="5861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3E96"/>
                </a:solidFill>
                <a:latin typeface="Aptos"/>
              </a:rPr>
              <a:t>HOW IT CAN BE USED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0407" y="5660136"/>
            <a:ext cx="5861303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dirty="0">
                <a:solidFill>
                  <a:srgbClr val="1E2837"/>
                </a:solidFill>
                <a:latin typeface="Aptos"/>
              </a:rPr>
              <a:t>New Content Duration → ML Model → Predicted Watch Duration → Business Decision
Example: 120-min content → ≈ 62 min predicted watch duration.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9613" y="6236208"/>
            <a:ext cx="4989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>
                <a:solidFill>
                  <a:srgbClr val="5F6976"/>
                </a:solidFill>
                <a:latin typeface="Aptos"/>
              </a:rPr>
              <a:t>2</a:t>
            </a:r>
            <a:r>
              <a:rPr lang="en-US" sz="1000" b="0" dirty="0">
                <a:solidFill>
                  <a:srgbClr val="5F6976"/>
                </a:solidFill>
                <a:latin typeface="Aptos"/>
              </a:rPr>
              <a:t>2</a:t>
            </a:r>
            <a:endParaRPr sz="1000" b="0" dirty="0">
              <a:solidFill>
                <a:srgbClr val="5F6976"/>
              </a:solidFill>
              <a:latin typeface="Aptos"/>
            </a:endParaRPr>
          </a:p>
        </p:txBody>
      </p:sp>
      <p:pic>
        <p:nvPicPr>
          <p:cNvPr id="41" name="Picture 40" descr="actual_vs_predicted.png">
            <a:extLst>
              <a:ext uri="{FF2B5EF4-FFF2-40B4-BE49-F238E27FC236}">
                <a16:creationId xmlns:a16="http://schemas.microsoft.com/office/drawing/2014/main" id="{8BF94D19-7882-FA0C-CD80-D4BB3817C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9" y="1954530"/>
            <a:ext cx="3977639" cy="375132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0">
                <a:solidFill>
                  <a:srgbClr val="0F0F0F"/>
                </a:solidFill>
                <a:latin typeface="Aptos"/>
              </a:rPr>
              <a:t>Limitation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37D"/>
                </a:solidFill>
                <a:latin typeface="Aptos"/>
              </a:rPr>
              <a:t>Key constraints of the current analysis and opportunities for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971AA"/>
                </a:solidFill>
                <a:latin typeface="Aptos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8B60"/>
                </a:solidFill>
                <a:latin typeface="Aptos"/>
              </a:rPr>
              <a:t>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1417320"/>
          </a:xfrm>
          <a:prstGeom prst="roundRect">
            <a:avLst/>
          </a:prstGeom>
          <a:solidFill>
            <a:srgbClr val="F2F7FD"/>
          </a:solidFill>
          <a:ln>
            <a:solidFill>
              <a:srgbClr val="397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2267712"/>
            <a:ext cx="438912" cy="438912"/>
          </a:xfrm>
          <a:prstGeom prst="ellipse">
            <a:avLst/>
          </a:prstGeom>
          <a:solidFill>
            <a:srgbClr val="397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340864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219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71AA"/>
                </a:solidFill>
                <a:latin typeface="Aptos"/>
              </a:rPr>
              <a:t>Dataset 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60904"/>
            <a:ext cx="42702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8323E"/>
                </a:solidFill>
                <a:latin typeface="Aptos"/>
              </a:rPr>
              <a:t>The analysis is based on the available OTT datasets and may not represent the complete real-world OTT population.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5257800" cy="1600200"/>
          </a:xfrm>
          <a:prstGeom prst="roundRect">
            <a:avLst/>
          </a:prstGeom>
          <a:solidFill>
            <a:srgbClr val="F2F7FD"/>
          </a:solidFill>
          <a:ln>
            <a:solidFill>
              <a:srgbClr val="397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968" y="3913632"/>
            <a:ext cx="438912" cy="438912"/>
          </a:xfrm>
          <a:prstGeom prst="ellipse">
            <a:avLst/>
          </a:prstGeom>
          <a:solidFill>
            <a:srgbClr val="397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986783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67911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71AA"/>
                </a:solidFill>
                <a:latin typeface="Aptos"/>
              </a:rPr>
              <a:t>Model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06824"/>
            <a:ext cx="427024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8323E"/>
                </a:solidFill>
                <a:latin typeface="Aptos"/>
              </a:rPr>
              <a:t>The current regression focuses mainly on content duration; other factors such as genre, platform, device and audience behaviour are not included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057400"/>
            <a:ext cx="5257800" cy="1417320"/>
          </a:xfrm>
          <a:prstGeom prst="roundRect">
            <a:avLst/>
          </a:prstGeom>
          <a:solidFill>
            <a:srgbClr val="F2F9F5"/>
          </a:solidFill>
          <a:ln>
            <a:solidFill>
              <a:srgbClr val="278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73368" y="2267712"/>
            <a:ext cx="438912" cy="438912"/>
          </a:xfrm>
          <a:prstGeom prst="ellipse">
            <a:avLst/>
          </a:prstGeom>
          <a:solidFill>
            <a:srgbClr val="27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2340864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2219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8B60"/>
                </a:solidFill>
                <a:latin typeface="Aptos"/>
              </a:rPr>
              <a:t>Advanced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660904"/>
            <a:ext cx="42702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8323E"/>
                </a:solidFill>
                <a:latin typeface="Aptos"/>
              </a:rPr>
              <a:t>Extend the model with content, user, platform, device and engagement features to improve prediction.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03320"/>
            <a:ext cx="5257800" cy="1600200"/>
          </a:xfrm>
          <a:prstGeom prst="roundRect">
            <a:avLst/>
          </a:prstGeom>
          <a:solidFill>
            <a:srgbClr val="F2F9F5"/>
          </a:solidFill>
          <a:ln>
            <a:solidFill>
              <a:srgbClr val="278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73368" y="3913632"/>
            <a:ext cx="438912" cy="438912"/>
          </a:xfrm>
          <a:prstGeom prst="ellipse">
            <a:avLst/>
          </a:prstGeom>
          <a:solidFill>
            <a:srgbClr val="27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986783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867911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8B60"/>
                </a:solidFill>
                <a:latin typeface="Aptos"/>
              </a:rPr>
              <a:t>Real-Time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306824"/>
            <a:ext cx="427024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8323E"/>
                </a:solidFill>
                <a:latin typeface="Aptos"/>
              </a:rPr>
              <a:t>Integrate live viewing and subscription data for real-time monitoring and proactive churn and content decisions.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715000"/>
            <a:ext cx="8549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375B"/>
                </a:solidFill>
                <a:latin typeface="Aptos"/>
              </a:rPr>
              <a:t>Current Analysis  →  Expanded Features  →  Advanced Prediction  →  Real-Time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263640"/>
            <a:ext cx="320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dirty="0">
                <a:solidFill>
                  <a:srgbClr val="69737D"/>
                </a:solidFill>
                <a:latin typeface="Aptos"/>
              </a:rPr>
              <a:t>2</a:t>
            </a:r>
            <a:r>
              <a:rPr lang="en-US" sz="900" b="0" dirty="0">
                <a:solidFill>
                  <a:srgbClr val="69737D"/>
                </a:solidFill>
                <a:latin typeface="Aptos"/>
              </a:rPr>
              <a:t>3</a:t>
            </a:r>
            <a:endParaRPr sz="900" b="0" dirty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0F0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37D"/>
                </a:solidFill>
                <a:latin typeface="Aptos"/>
              </a:rPr>
              <a:t>Overall outcome of the OTT platform business analytics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35640" cy="804672"/>
          </a:xfrm>
          <a:prstGeom prst="roundRect">
            <a:avLst/>
          </a:prstGeom>
          <a:solidFill>
            <a:srgbClr val="F2F7FD"/>
          </a:solidFill>
          <a:ln>
            <a:solidFill>
              <a:srgbClr val="31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636776"/>
            <a:ext cx="475488" cy="475488"/>
          </a:xfrm>
          <a:prstGeom prst="ellipse">
            <a:avLst/>
          </a:prstGeom>
          <a:solidFill>
            <a:srgbClr val="31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28216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60934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70B2"/>
                </a:solidFill>
                <a:latin typeface="Aptos"/>
              </a:rPr>
              <a:t>Content &amp;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591056"/>
            <a:ext cx="7360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441"/>
                </a:solidFill>
                <a:latin typeface="Aptos"/>
              </a:rPr>
              <a:t>Movies achieved higher average completion than TV Shows (53.22% vs 50.04%), supporting format-specific content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14016"/>
            <a:ext cx="10835640" cy="804672"/>
          </a:xfrm>
          <a:prstGeom prst="roundRect">
            <a:avLst/>
          </a:prstGeom>
          <a:solidFill>
            <a:srgbClr val="F2F9F5"/>
          </a:solidFill>
          <a:ln>
            <a:solidFill>
              <a:srgbClr val="278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2569464"/>
            <a:ext cx="475488" cy="475488"/>
          </a:xfrm>
          <a:prstGeom prst="ellipse">
            <a:avLst/>
          </a:prstGeom>
          <a:solidFill>
            <a:srgbClr val="27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6090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5420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8B60"/>
                </a:solidFill>
                <a:latin typeface="Aptos"/>
              </a:rPr>
              <a:t>Platform &amp; Audience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523744"/>
            <a:ext cx="7360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441"/>
                </a:solidFill>
                <a:latin typeface="Aptos"/>
              </a:rPr>
              <a:t>Platform, age, region, gender, device and time analysis identified important viewing patterns for audience segmentation.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46704"/>
            <a:ext cx="10835640" cy="804672"/>
          </a:xfrm>
          <a:prstGeom prst="roundRect">
            <a:avLst/>
          </a:prstGeom>
          <a:solidFill>
            <a:srgbClr val="FDF8F0"/>
          </a:solidFill>
          <a:ln>
            <a:solidFill>
              <a:srgbClr val="DC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3502152"/>
            <a:ext cx="475488" cy="475488"/>
          </a:xfrm>
          <a:prstGeom prst="ellipse">
            <a:avLst/>
          </a:prstGeom>
          <a:solidFill>
            <a:srgbClr val="DC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9359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474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7D1E"/>
                </a:solidFill>
                <a:latin typeface="Aptos"/>
              </a:rPr>
              <a:t>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456432"/>
            <a:ext cx="7360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441"/>
                </a:solidFill>
                <a:latin typeface="Aptos"/>
              </a:rPr>
              <a:t>Free Trial churn was substantially higher than Paid churn (70.93% vs 30.71%), making trial-to-paid conversion a key priority.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79392"/>
            <a:ext cx="10835640" cy="804672"/>
          </a:xfrm>
          <a:prstGeom prst="roundRect">
            <a:avLst/>
          </a:prstGeom>
          <a:solidFill>
            <a:srgbClr val="F7F5FC"/>
          </a:solidFill>
          <a:ln>
            <a:solidFill>
              <a:srgbClr val="5B4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4434840"/>
            <a:ext cx="475488" cy="475488"/>
          </a:xfrm>
          <a:prstGeom prst="ellipse">
            <a:avLst/>
          </a:prstGeom>
          <a:solidFill>
            <a:srgbClr val="5B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26279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40740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4296"/>
                </a:solidFill>
                <a:latin typeface="Aptos"/>
              </a:rPr>
              <a:t>Feedback &amp; Behaviour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389120"/>
            <a:ext cx="7360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441"/>
                </a:solidFill>
                <a:latin typeface="Aptos"/>
              </a:rPr>
              <a:t>Ratings and feedback were analysed alongside completion and rewatch behaviour to support content evaluation.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12079"/>
            <a:ext cx="1083564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19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8680" y="5367527"/>
            <a:ext cx="475488" cy="475488"/>
          </a:xfrm>
          <a:prstGeom prst="ellipse">
            <a:avLst/>
          </a:prstGeom>
          <a:solidFill>
            <a:srgbClr val="19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458967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340095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375B"/>
                </a:solidFill>
                <a:latin typeface="Aptos"/>
              </a:rPr>
              <a:t>Predictive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321807"/>
            <a:ext cx="7360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441"/>
                </a:solidFill>
                <a:latin typeface="Aptos"/>
              </a:rPr>
              <a:t>The regression model achieved R² = 74.23%, showing that content duration can provide a useful basis for estimating watch duration.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619963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9375B"/>
                </a:solidFill>
                <a:latin typeface="Aptos"/>
              </a:rPr>
              <a:t>Overall: The project converts OTT data into actionable insights for content, engagement, customer retention and predictive decision-making.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37960"/>
            <a:ext cx="32004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dirty="0">
                <a:solidFill>
                  <a:srgbClr val="69737D"/>
                </a:solidFill>
                <a:latin typeface="Aptos"/>
              </a:rPr>
              <a:t>2</a:t>
            </a:r>
            <a:r>
              <a:rPr lang="en-US" sz="850" b="0" dirty="0">
                <a:solidFill>
                  <a:srgbClr val="69737D"/>
                </a:solidFill>
                <a:latin typeface="Aptos"/>
              </a:rPr>
              <a:t>4</a:t>
            </a:r>
            <a:endParaRPr sz="850" b="0" dirty="0">
              <a:solidFill>
                <a:srgbClr val="69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70C9-393B-D15C-61B4-A52AC0F2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32" y="3149898"/>
            <a:ext cx="10380573" cy="1432273"/>
          </a:xfrm>
        </p:spPr>
        <p:txBody>
          <a:bodyPr/>
          <a:lstStyle/>
          <a:p>
            <a:pPr algn="ctr"/>
            <a:r>
              <a:rPr lang="en-US" b="1" dirty="0"/>
              <a:t>Q&amp;A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D57806-8FE3-4CB1-E138-F1131972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07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70C9-393B-D15C-61B4-A52AC0F2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58" y="2338737"/>
            <a:ext cx="10380573" cy="1432273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22597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0C9320661FCB478F077E19A50F7652" ma:contentTypeVersion="18" ma:contentTypeDescription="Create a new document." ma:contentTypeScope="" ma:versionID="8169698a23ce641b0e514e4179e9fb48">
  <xsd:schema xmlns:xsd="http://www.w3.org/2001/XMLSchema" xmlns:xs="http://www.w3.org/2001/XMLSchema" xmlns:p="http://schemas.microsoft.com/office/2006/metadata/properties" xmlns:ns2="0f01b7b4-d4b6-47da-93c5-cffa90a406b9" xmlns:ns3="b18f8198-02fb-408b-a649-baf04150ea28" targetNamespace="http://schemas.microsoft.com/office/2006/metadata/properties" ma:root="true" ma:fieldsID="2c955a956371819644e2cb74c9337ca9" ns2:_="" ns3:_="">
    <xsd:import namespace="0f01b7b4-d4b6-47da-93c5-cffa90a406b9"/>
    <xsd:import namespace="b18f8198-02fb-408b-a649-baf04150ea2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01b7b4-d4b6-47da-93c5-cffa90a406b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49927f78-51af-4269-a9ee-61034ef6eb35}" ma:internalName="TaxCatchAll" ma:showField="CatchAllData" ma:web="0f01b7b4-d4b6-47da-93c5-cffa90a406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8f8198-02fb-408b-a649-baf04150e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2645f41-64df-47aa-89c1-bfa24a5dcf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8f8198-02fb-408b-a649-baf04150ea28">
      <Terms xmlns="http://schemas.microsoft.com/office/infopath/2007/PartnerControls"/>
    </lcf76f155ced4ddcb4097134ff3c332f>
    <TaxCatchAll xmlns="0f01b7b4-d4b6-47da-93c5-cffa90a406b9" xsi:nil="true"/>
  </documentManagement>
</p:properties>
</file>

<file path=customXml/itemProps1.xml><?xml version="1.0" encoding="utf-8"?>
<ds:datastoreItem xmlns:ds="http://schemas.openxmlformats.org/officeDocument/2006/customXml" ds:itemID="{75E1E72E-E9DB-4CB0-97B8-EEB606A0C6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A8A455-4BDA-4A12-9E24-CC65BC755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01b7b4-d4b6-47da-93c5-cffa90a406b9"/>
    <ds:schemaRef ds:uri="b18f8198-02fb-408b-a649-baf04150e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546D38-47C6-48FC-BD7A-5E565A108033}">
  <ds:schemaRefs>
    <ds:schemaRef ds:uri="http://schemas.microsoft.com/office/2006/metadata/properties"/>
    <ds:schemaRef ds:uri="http://schemas.microsoft.com/office/infopath/2007/PartnerControls"/>
    <ds:schemaRef ds:uri="b18f8198-02fb-408b-a649-baf04150ea28"/>
    <ds:schemaRef ds:uri="0f01b7b4-d4b6-47da-93c5-cffa90a406b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7285</TotalTime>
  <Words>3015</Words>
  <Application>Microsoft Office PowerPoint</Application>
  <PresentationFormat>Widescreen</PresentationFormat>
  <Paragraphs>474</Paragraphs>
  <Slides>28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Abadi</vt:lpstr>
      <vt:lpstr>Aptos</vt:lpstr>
      <vt:lpstr>Aptos Display</vt:lpstr>
      <vt:lpstr>Arial</vt:lpstr>
      <vt:lpstr>Calibri</vt:lpstr>
      <vt:lpstr>Office Theme</vt:lpstr>
      <vt:lpstr>PowerPoint Presentation</vt:lpstr>
      <vt:lpstr>Business Objective:</vt:lpstr>
      <vt:lpstr>PowerPoint Presentation</vt:lpstr>
      <vt:lpstr>PowerPoint Presentation</vt:lpstr>
      <vt:lpstr>Technology Stack</vt:lpstr>
      <vt:lpstr>Data Cleaning &amp; Fixes Applied</vt:lpstr>
      <vt:lpstr>Tools and Techniques Used</vt:lpstr>
      <vt:lpstr>Possible Analysis</vt:lpstr>
      <vt:lpstr>Hypotheses</vt:lpstr>
      <vt:lpstr>KPIs</vt:lpstr>
      <vt:lpstr>Exploratory Insights</vt:lpstr>
      <vt:lpstr>Insights from SQL Scripts</vt:lpstr>
      <vt:lpstr>Insights from SQL Scripts</vt:lpstr>
      <vt:lpstr>Insights from SQL Scripts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</vt:lpstr>
      <vt:lpstr>THANK YOU</vt:lpstr>
    </vt:vector>
  </TitlesOfParts>
  <Company>Ingersoll Rand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Project: Analysis of TMDB Dataset</dc:title>
  <dc:creator>P S, Dhanush</dc:creator>
  <cp:lastModifiedBy>RUTUJA PARAB</cp:lastModifiedBy>
  <cp:revision>18</cp:revision>
  <dcterms:created xsi:type="dcterms:W3CDTF">2024-04-14T17:53:45Z</dcterms:created>
  <dcterms:modified xsi:type="dcterms:W3CDTF">2026-09-12T22:00:06Z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0x010100D80C9320661FCB478F077E19A50F7652</vt:lpwstr>
  </property>
  <property fmtid="{D5CDD505-2E9C-101B-9397-08002B2CF9AE}" pid="3" name="MediaServiceImageTags">
    <vt:lpwstr/>
  </property>
  <property fmtid="{D5CDD505-2E9C-101B-9397-08002B2CF9AE}" pid="4" name="MSIP_Label_5ca0719b-669b-494b-ac82-c6e44476843f_Enabled">
    <vt:lpwstr>true</vt:lpwstr>
  </property>
  <property fmtid="{D5CDD505-2E9C-101B-9397-08002B2CF9AE}" pid="5" name="MSIP_Label_5ca0719b-669b-494b-ac82-c6e44476843f_SetDate">
    <vt:lpwstr>2026-09-03T14:17:19Z</vt:lpwstr>
  </property>
  <property fmtid="{D5CDD505-2E9C-101B-9397-08002B2CF9AE}" pid="6" name="MSIP_Label_5ca0719b-669b-494b-ac82-c6e44476843f_Method">
    <vt:lpwstr>Privileged</vt:lpwstr>
  </property>
  <property fmtid="{D5CDD505-2E9C-101B-9397-08002B2CF9AE}" pid="7" name="MSIP_Label_5ca0719b-669b-494b-ac82-c6e44476843f_Name">
    <vt:lpwstr>Public</vt:lpwstr>
  </property>
  <property fmtid="{D5CDD505-2E9C-101B-9397-08002B2CF9AE}" pid="8" name="MSIP_Label_5ca0719b-669b-494b-ac82-c6e44476843f_SiteId">
    <vt:lpwstr>d95b8428-3729-4ecd-a6f3-beee9ba8c6cb</vt:lpwstr>
  </property>
  <property fmtid="{D5CDD505-2E9C-101B-9397-08002B2CF9AE}" pid="9" name="MSIP_Label_5ca0719b-669b-494b-ac82-c6e44476843f_ActionId">
    <vt:lpwstr>510d7dee-8afc-4482-a920-bf7c48faee58</vt:lpwstr>
  </property>
  <property fmtid="{D5CDD505-2E9C-101B-9397-08002B2CF9AE}" pid="10" name="MSIP_Label_5ca0719b-669b-494b-ac82-c6e44476843f_ContentBits">
    <vt:lpwstr>3</vt:lpwstr>
  </property>
  <property fmtid="{D5CDD505-2E9C-101B-9397-08002B2CF9AE}" pid="11" name="MSIP_Label_5ca0719b-669b-494b-ac82-c6e44476843f_Tag">
    <vt:lpwstr>10, 0, 1, 1</vt:lpwstr>
  </property>
  <property fmtid="{D5CDD505-2E9C-101B-9397-08002B2CF9AE}" pid="12" name="ClassificationContentMarkingFooterLocations">
    <vt:lpwstr>Office Theme:10</vt:lpwstr>
  </property>
  <property fmtid="{D5CDD505-2E9C-101B-9397-08002B2CF9AE}" pid="13" name="ClassificationContentMarkingFooterText">
    <vt:lpwstr>Public</vt:lpwstr>
  </property>
  <property fmtid="{D5CDD505-2E9C-101B-9397-08002B2CF9AE}" pid="14" name="ClassificationContentMarkingHeaderLocations">
    <vt:lpwstr>Office Theme:9</vt:lpwstr>
  </property>
  <property fmtid="{D5CDD505-2E9C-101B-9397-08002B2CF9AE}" pid="15" name="ClassificationContentMarkingHeaderText">
    <vt:lpwstr>Public</vt:lpwstr>
  </property>
</Properties>
</file>